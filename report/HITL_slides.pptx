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384048" cy="27432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29768"/>
            <a:ext cx="384048" cy="228600"/>
          </a:xfrm>
          <a:prstGeom prst="rect">
            <a:avLst/>
          </a:prstGeom>
          <a:noFill/>
        </p:spPr>
        <p:txBody>
          <a:bodyPr wrap="square" anchor="t" lIns="0" rIns="0" tIns="0" bIns="0">
            <a:spAutoFit/>
          </a:bodyPr>
          <a:lstStyle/>
          <a:p>
            <a:pPr algn="ctr">
              <a:lnSpc>
                <a:spcPct val="100000"/>
              </a:lnSpc>
            </a:pPr>
            <a:r>
              <a:rPr sz="1100" b="1">
                <a:solidFill>
                  <a:srgbClr val="FFFFFF"/>
                </a:solidFill>
                <a:latin typeface="Consolas"/>
              </a:rPr>
              <a:t>01</a:t>
            </a:r>
          </a:p>
        </p:txBody>
      </p:sp>
      <p:sp>
        <p:nvSpPr>
          <p:cNvPr id="4" name="TextBox 3"/>
          <p:cNvSpPr txBox="1"/>
          <p:nvPr/>
        </p:nvSpPr>
        <p:spPr>
          <a:xfrm>
            <a:off x="1024128" y="301752"/>
            <a:ext cx="8046720" cy="502920"/>
          </a:xfrm>
          <a:prstGeom prst="rect">
            <a:avLst/>
          </a:prstGeom>
          <a:noFill/>
        </p:spPr>
        <p:txBody>
          <a:bodyPr wrap="square" anchor="t" lIns="0" rIns="0" tIns="0" bIns="0">
            <a:spAutoFit/>
          </a:bodyPr>
          <a:lstStyle/>
          <a:p>
            <a:pPr algn="l">
              <a:lnSpc>
                <a:spcPct val="92000"/>
              </a:lnSpc>
            </a:pPr>
            <a:r>
              <a:rPr sz="2300" b="1">
                <a:solidFill>
                  <a:srgbClr val="141C26"/>
                </a:solidFill>
                <a:latin typeface="Calibri"/>
              </a:rPr>
              <a:t>Two real boards in a simulated fleet</a:t>
            </a:r>
          </a:p>
        </p:txBody>
      </p:sp>
      <p:sp>
        <p:nvSpPr>
          <p:cNvPr id="5" name="TextBox 4"/>
          <p:cNvSpPr txBox="1"/>
          <p:nvPr/>
        </p:nvSpPr>
        <p:spPr>
          <a:xfrm>
            <a:off x="9235440" y="429768"/>
            <a:ext cx="2468880" cy="274320"/>
          </a:xfrm>
          <a:prstGeom prst="rect">
            <a:avLst/>
          </a:prstGeom>
          <a:noFill/>
        </p:spPr>
        <p:txBody>
          <a:bodyPr wrap="square" anchor="t" lIns="0" rIns="0" tIns="0" bIns="0">
            <a:spAutoFit/>
          </a:bodyPr>
          <a:lstStyle/>
          <a:p>
            <a:pPr algn="r">
              <a:lnSpc>
                <a:spcPct val="100000"/>
              </a:lnSpc>
            </a:pPr>
            <a:r>
              <a:rPr sz="1000" b="0">
                <a:solidFill>
                  <a:srgbClr val="8A94A1"/>
                </a:solidFill>
                <a:latin typeface="Consolas"/>
              </a:rPr>
              <a:t>HITL ARCHITECTURE</a:t>
            </a:r>
          </a:p>
        </p:txBody>
      </p:sp>
      <p:sp>
        <p:nvSpPr>
          <p:cNvPr id="6" name="Rectangle 5"/>
          <p:cNvSpPr/>
          <p:nvPr/>
        </p:nvSpPr>
        <p:spPr>
          <a:xfrm>
            <a:off x="502920" y="868680"/>
            <a:ext cx="11173968" cy="20116"/>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11155680" cy="457200"/>
          </a:xfrm>
          <a:prstGeom prst="rect">
            <a:avLst/>
          </a:prstGeom>
          <a:noFill/>
        </p:spPr>
        <p:txBody>
          <a:bodyPr wrap="square" anchor="t" lIns="0" rIns="0" tIns="0" bIns="0">
            <a:spAutoFit/>
          </a:bodyPr>
          <a:lstStyle/>
          <a:p>
            <a:pPr algn="l">
              <a:lnSpc>
                <a:spcPct val="115000"/>
              </a:lnSpc>
            </a:pPr>
            <a:r>
              <a:rPr sz="1250" b="0">
                <a:solidFill>
                  <a:srgbClr val="5B6775"/>
                </a:solidFill>
                <a:latin typeface="Calibri"/>
              </a:rPr>
              <a:t>Each aircraft runs in its own Linux network namespace with a real IP stack. One Ethernet cable per board carries two tagged VLANs, so the camera feed and the radio link share a wire but are different networks — and only one is degraded.</a:t>
            </a:r>
          </a:p>
        </p:txBody>
      </p:sp>
      <p:sp>
        <p:nvSpPr>
          <p:cNvPr id="8" name="Rectangle 7"/>
          <p:cNvSpPr/>
          <p:nvPr/>
        </p:nvSpPr>
        <p:spPr>
          <a:xfrm>
            <a:off x="502920" y="1673352"/>
            <a:ext cx="237744" cy="41148"/>
          </a:xfrm>
          <a:prstGeom prst="rect">
            <a:avLst/>
          </a:prstGeom>
          <a:solidFill>
            <a:srgbClr val="0B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3108960" cy="228600"/>
          </a:xfrm>
          <a:prstGeom prst="rect">
            <a:avLst/>
          </a:prstGeom>
          <a:noFill/>
        </p:spPr>
        <p:txBody>
          <a:bodyPr wrap="square" anchor="t" lIns="0" rIns="0" tIns="0" bIns="0">
            <a:spAutoFit/>
          </a:bodyPr>
          <a:lstStyle/>
          <a:p>
            <a:pPr algn="l">
              <a:lnSpc>
                <a:spcPct val="100000"/>
              </a:lnSpc>
            </a:pPr>
            <a:r>
              <a:rPr sz="1000" b="1">
                <a:solidFill>
                  <a:srgbClr val="0B6E7F"/>
                </a:solidFill>
                <a:latin typeface="Consolas"/>
              </a:rPr>
              <a:t>VLAN 10 · sensor · unimpaired</a:t>
            </a:r>
          </a:p>
        </p:txBody>
      </p:sp>
      <p:sp>
        <p:nvSpPr>
          <p:cNvPr id="10" name="Rectangle 9"/>
          <p:cNvSpPr/>
          <p:nvPr/>
        </p:nvSpPr>
        <p:spPr>
          <a:xfrm>
            <a:off x="3977639" y="1673352"/>
            <a:ext cx="237744" cy="41148"/>
          </a:xfrm>
          <a:prstGeom prst="rect">
            <a:avLst/>
          </a:prstGeom>
          <a:solidFill>
            <a:srgbClr val="B043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474720" cy="228600"/>
          </a:xfrm>
          <a:prstGeom prst="rect">
            <a:avLst/>
          </a:prstGeom>
          <a:noFill/>
        </p:spPr>
        <p:txBody>
          <a:bodyPr wrap="square" anchor="t" lIns="0" rIns="0" tIns="0" bIns="0">
            <a:spAutoFit/>
          </a:bodyPr>
          <a:lstStyle/>
          <a:p>
            <a:pPr algn="l">
              <a:lnSpc>
                <a:spcPct val="100000"/>
              </a:lnSpc>
            </a:pPr>
            <a:r>
              <a:rPr sz="1000" b="1">
                <a:solidFill>
                  <a:srgbClr val="B0430B"/>
                </a:solidFill>
                <a:latin typeface="Consolas"/>
              </a:rPr>
              <a:t>VLAN 42/43 · radio · through ns-3</a:t>
            </a:r>
          </a:p>
        </p:txBody>
      </p:sp>
      <p:sp>
        <p:nvSpPr>
          <p:cNvPr id="12" name="Rectangle 11"/>
          <p:cNvSpPr/>
          <p:nvPr/>
        </p:nvSpPr>
        <p:spPr>
          <a:xfrm>
            <a:off x="502920" y="1883664"/>
            <a:ext cx="5989320" cy="3767328"/>
          </a:xfrm>
          <a:prstGeom prst="rect">
            <a:avLst/>
          </a:prstGeom>
          <a:noFill/>
          <a:ln w="12700">
            <a:solidFill>
              <a:srgbClr val="8A94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94360" y="1929384"/>
            <a:ext cx="411480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HOST — UBUNTU 22.04 / ROS 2 HUMBLE</a:t>
            </a:r>
          </a:p>
        </p:txBody>
      </p:sp>
      <p:sp>
        <p:nvSpPr>
          <p:cNvPr id="14" name="Rectangle 13"/>
          <p:cNvSpPr/>
          <p:nvPr/>
        </p:nvSpPr>
        <p:spPr>
          <a:xfrm>
            <a:off x="658368" y="2194560"/>
            <a:ext cx="2788920" cy="749808"/>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2286000"/>
            <a:ext cx="2532887" cy="201168"/>
          </a:xfrm>
          <a:prstGeom prst="rect">
            <a:avLst/>
          </a:prstGeom>
          <a:noFill/>
        </p:spPr>
        <p:txBody>
          <a:bodyPr wrap="square" anchor="t" lIns="0" rIns="0" tIns="0" bIns="0">
            <a:spAutoFit/>
          </a:bodyPr>
          <a:lstStyle/>
          <a:p>
            <a:pPr algn="l">
              <a:lnSpc>
                <a:spcPct val="100000"/>
              </a:lnSpc>
            </a:pPr>
            <a:r>
              <a:rPr sz="1100" b="1">
                <a:solidFill>
                  <a:srgbClr val="141C26"/>
                </a:solidFill>
                <a:latin typeface="Calibri"/>
              </a:rPr>
              <a:t>Gazebo · physics + 2 cameras</a:t>
            </a:r>
          </a:p>
        </p:txBody>
      </p:sp>
      <p:sp>
        <p:nvSpPr>
          <p:cNvPr id="16" name="TextBox 15"/>
          <p:cNvSpPr txBox="1"/>
          <p:nvPr/>
        </p:nvSpPr>
        <p:spPr>
          <a:xfrm>
            <a:off x="786384" y="2505456"/>
            <a:ext cx="2532887" cy="365759"/>
          </a:xfrm>
          <a:prstGeom prst="rect">
            <a:avLst/>
          </a:prstGeom>
          <a:noFill/>
        </p:spPr>
        <p:txBody>
          <a:bodyPr wrap="square" anchor="t" lIns="0" rIns="0" tIns="0" bIns="0">
            <a:spAutoFit/>
          </a:bodyPr>
          <a:lstStyle/>
          <a:p>
            <a:pPr algn="l">
              <a:lnSpc>
                <a:spcPct val="125000"/>
              </a:lnSpc>
            </a:pPr>
            <a:r>
              <a:rPr sz="900" b="0">
                <a:solidFill>
                  <a:srgbClr val="5B6775"/>
                </a:solidFill>
                <a:latin typeface="Consolas"/>
              </a:rPr>
              <a:t>640×384 · 5 Hz · 45° down</a:t>
            </a:r>
          </a:p>
          <a:p>
            <a:pPr algn="l">
              <a:lnSpc>
                <a:spcPct val="125000"/>
              </a:lnSpc>
            </a:pPr>
            <a:r>
              <a:rPr sz="900" b="0">
                <a:solidFill>
                  <a:srgbClr val="5B6775"/>
                </a:solidFill>
                <a:latin typeface="Consolas"/>
              </a:rPr>
              <a:t>0.6 rad FOV · small_city world</a:t>
            </a:r>
          </a:p>
        </p:txBody>
      </p:sp>
      <p:sp>
        <p:nvSpPr>
          <p:cNvPr id="17" name="Rectangle 16"/>
          <p:cNvSpPr/>
          <p:nvPr/>
        </p:nvSpPr>
        <p:spPr>
          <a:xfrm>
            <a:off x="658368" y="3017520"/>
            <a:ext cx="2788920" cy="512064"/>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3108960"/>
            <a:ext cx="2532887" cy="201168"/>
          </a:xfrm>
          <a:prstGeom prst="rect">
            <a:avLst/>
          </a:prstGeom>
          <a:noFill/>
        </p:spPr>
        <p:txBody>
          <a:bodyPr wrap="square" anchor="t" lIns="0" rIns="0" tIns="0" bIns="0">
            <a:spAutoFit/>
          </a:bodyPr>
          <a:lstStyle/>
          <a:p>
            <a:pPr algn="l">
              <a:lnSpc>
                <a:spcPct val="100000"/>
              </a:lnSpc>
            </a:pPr>
            <a:r>
              <a:rPr sz="1100" b="1">
                <a:solidFill>
                  <a:srgbClr val="141C26"/>
                </a:solidFill>
                <a:latin typeface="Calibri"/>
              </a:rPr>
              <a:t>netns uav1ns · ArduPilot SITL</a:t>
            </a:r>
          </a:p>
        </p:txBody>
      </p:sp>
      <p:sp>
        <p:nvSpPr>
          <p:cNvPr id="19" name="TextBox 18"/>
          <p:cNvSpPr txBox="1"/>
          <p:nvPr/>
        </p:nvSpPr>
        <p:spPr>
          <a:xfrm>
            <a:off x="786384" y="3328415"/>
            <a:ext cx="2532887" cy="128016"/>
          </a:xfrm>
          <a:prstGeom prst="rect">
            <a:avLst/>
          </a:prstGeom>
          <a:noFill/>
        </p:spPr>
        <p:txBody>
          <a:bodyPr wrap="square" anchor="t" lIns="0" rIns="0" tIns="0" bIns="0">
            <a:spAutoFit/>
          </a:bodyPr>
          <a:lstStyle/>
          <a:p>
            <a:pPr algn="l">
              <a:lnSpc>
                <a:spcPct val="125000"/>
              </a:lnSpc>
            </a:pPr>
            <a:r>
              <a:rPr sz="900" b="0">
                <a:solidFill>
                  <a:srgbClr val="5B6775"/>
                </a:solidFill>
                <a:latin typeface="Consolas"/>
              </a:rPr>
              <a:t>10.42.0.11 · sysid 1 · AP_DDS</a:t>
            </a:r>
          </a:p>
        </p:txBody>
      </p:sp>
      <p:sp>
        <p:nvSpPr>
          <p:cNvPr id="20" name="Rectangle 19"/>
          <p:cNvSpPr/>
          <p:nvPr/>
        </p:nvSpPr>
        <p:spPr>
          <a:xfrm>
            <a:off x="658368" y="3584448"/>
            <a:ext cx="2788920" cy="512064"/>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6384" y="3675887"/>
            <a:ext cx="2532887" cy="201168"/>
          </a:xfrm>
          <a:prstGeom prst="rect">
            <a:avLst/>
          </a:prstGeom>
          <a:noFill/>
        </p:spPr>
        <p:txBody>
          <a:bodyPr wrap="square" anchor="t" lIns="0" rIns="0" tIns="0" bIns="0">
            <a:spAutoFit/>
          </a:bodyPr>
          <a:lstStyle/>
          <a:p>
            <a:pPr algn="l">
              <a:lnSpc>
                <a:spcPct val="100000"/>
              </a:lnSpc>
            </a:pPr>
            <a:r>
              <a:rPr sz="1100" b="1">
                <a:solidFill>
                  <a:srgbClr val="141C26"/>
                </a:solidFill>
                <a:latin typeface="Calibri"/>
              </a:rPr>
              <a:t>netns uav2ns · ArduPilot SITL</a:t>
            </a:r>
          </a:p>
        </p:txBody>
      </p:sp>
      <p:sp>
        <p:nvSpPr>
          <p:cNvPr id="22" name="TextBox 21"/>
          <p:cNvSpPr txBox="1"/>
          <p:nvPr/>
        </p:nvSpPr>
        <p:spPr>
          <a:xfrm>
            <a:off x="786384" y="3895344"/>
            <a:ext cx="2532887" cy="128016"/>
          </a:xfrm>
          <a:prstGeom prst="rect">
            <a:avLst/>
          </a:prstGeom>
          <a:noFill/>
        </p:spPr>
        <p:txBody>
          <a:bodyPr wrap="square" anchor="t" lIns="0" rIns="0" tIns="0" bIns="0">
            <a:spAutoFit/>
          </a:bodyPr>
          <a:lstStyle/>
          <a:p>
            <a:pPr algn="l">
              <a:lnSpc>
                <a:spcPct val="125000"/>
              </a:lnSpc>
            </a:pPr>
            <a:r>
              <a:rPr sz="900" b="0">
                <a:solidFill>
                  <a:srgbClr val="5B6775"/>
                </a:solidFill>
                <a:latin typeface="Consolas"/>
              </a:rPr>
              <a:t>10.42.0.13 · sysid 2 · AP_DDS</a:t>
            </a:r>
          </a:p>
        </p:txBody>
      </p:sp>
      <p:sp>
        <p:nvSpPr>
          <p:cNvPr id="23" name="Rectangle 22"/>
          <p:cNvSpPr/>
          <p:nvPr/>
        </p:nvSpPr>
        <p:spPr>
          <a:xfrm>
            <a:off x="658368" y="4297680"/>
            <a:ext cx="2788920" cy="1207008"/>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4389120"/>
            <a:ext cx="2532887" cy="201168"/>
          </a:xfrm>
          <a:prstGeom prst="rect">
            <a:avLst/>
          </a:prstGeom>
          <a:noFill/>
        </p:spPr>
        <p:txBody>
          <a:bodyPr wrap="square" anchor="t" lIns="0" rIns="0" tIns="0" bIns="0">
            <a:spAutoFit/>
          </a:bodyPr>
          <a:lstStyle/>
          <a:p>
            <a:pPr algn="l">
              <a:lnSpc>
                <a:spcPct val="100000"/>
              </a:lnSpc>
            </a:pPr>
            <a:r>
              <a:rPr sz="1100" b="1">
                <a:solidFill>
                  <a:srgbClr val="141C26"/>
                </a:solidFill>
                <a:latin typeface="Calibri"/>
              </a:rPr>
              <a:t>netns gcsns · ground station</a:t>
            </a:r>
          </a:p>
        </p:txBody>
      </p:sp>
      <p:sp>
        <p:nvSpPr>
          <p:cNvPr id="25" name="TextBox 24"/>
          <p:cNvSpPr txBox="1"/>
          <p:nvPr/>
        </p:nvSpPr>
        <p:spPr>
          <a:xfrm>
            <a:off x="786384" y="4608576"/>
            <a:ext cx="2532887" cy="822960"/>
          </a:xfrm>
          <a:prstGeom prst="rect">
            <a:avLst/>
          </a:prstGeom>
          <a:noFill/>
        </p:spPr>
        <p:txBody>
          <a:bodyPr wrap="square" anchor="t" lIns="0" rIns="0" tIns="0" bIns="0">
            <a:spAutoFit/>
          </a:bodyPr>
          <a:lstStyle/>
          <a:p>
            <a:pPr algn="l">
              <a:lnSpc>
                <a:spcPct val="125000"/>
              </a:lnSpc>
            </a:pPr>
            <a:r>
              <a:rPr sz="900" b="0">
                <a:solidFill>
                  <a:srgbClr val="5B6775"/>
                </a:solidFill>
                <a:latin typeface="Consolas"/>
              </a:rPr>
              <a:t>drone_bridge ×2 — commands out</a:t>
            </a:r>
          </a:p>
          <a:p>
            <a:pPr algn="l">
              <a:lnSpc>
                <a:spcPct val="125000"/>
              </a:lnSpc>
            </a:pPr>
            <a:r>
              <a:rPr sz="900" b="0">
                <a:solidFill>
                  <a:srgbClr val="5B6775"/>
                </a:solidFill>
                <a:latin typeface="Consolas"/>
              </a:rPr>
              <a:t>micro_ros_agent ×2 — telemetry in</a:t>
            </a:r>
          </a:p>
          <a:p>
            <a:pPr algn="l">
              <a:lnSpc>
                <a:spcPct val="125000"/>
              </a:lnSpc>
            </a:pPr>
            <a:r>
              <a:rPr sz="900" b="0">
                <a:solidFill>
                  <a:srgbClr val="5B6775"/>
                </a:solidFill>
                <a:latin typeface="Consolas"/>
              </a:rPr>
              <a:t>gcs_receiver ×2 — detections in</a:t>
            </a:r>
          </a:p>
          <a:p>
            <a:pPr algn="l">
              <a:lnSpc>
                <a:spcPct val="125000"/>
              </a:lnSpc>
            </a:pPr>
            <a:r>
              <a:rPr sz="900" b="0">
                <a:solidFill>
                  <a:srgbClr val="5B6775"/>
                </a:solidFill>
                <a:latin typeface="Consolas"/>
              </a:rPr>
              <a:t>10.42.0.10</a:t>
            </a:r>
          </a:p>
        </p:txBody>
      </p:sp>
      <p:sp>
        <p:nvSpPr>
          <p:cNvPr id="26" name="Rectangle 25"/>
          <p:cNvSpPr/>
          <p:nvPr/>
        </p:nvSpPr>
        <p:spPr>
          <a:xfrm>
            <a:off x="3639312" y="3017520"/>
            <a:ext cx="2743200" cy="2487168"/>
          </a:xfrm>
          <a:prstGeom prst="rect">
            <a:avLst/>
          </a:prstGeom>
          <a:solidFill>
            <a:srgbClr val="F4F6F8"/>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67328" y="3108960"/>
            <a:ext cx="2514600" cy="228600"/>
          </a:xfrm>
          <a:prstGeom prst="rect">
            <a:avLst/>
          </a:prstGeom>
          <a:noFill/>
        </p:spPr>
        <p:txBody>
          <a:bodyPr wrap="square" anchor="t" lIns="0" rIns="0" tIns="0" bIns="0">
            <a:spAutoFit/>
          </a:bodyPr>
          <a:lstStyle/>
          <a:p>
            <a:pPr algn="l">
              <a:lnSpc>
                <a:spcPct val="100000"/>
              </a:lnSpc>
            </a:pPr>
            <a:r>
              <a:rPr sz="1100" b="1">
                <a:solidFill>
                  <a:srgbClr val="141C26"/>
                </a:solidFill>
                <a:latin typeface="Calibri"/>
              </a:rPr>
              <a:t>ns-3 · simulated radio</a:t>
            </a:r>
          </a:p>
        </p:txBody>
      </p:sp>
      <p:sp>
        <p:nvSpPr>
          <p:cNvPr id="28" name="TextBox 27"/>
          <p:cNvSpPr txBox="1"/>
          <p:nvPr/>
        </p:nvSpPr>
        <p:spPr>
          <a:xfrm>
            <a:off x="3767328" y="3383280"/>
            <a:ext cx="2514600" cy="2011680"/>
          </a:xfrm>
          <a:prstGeom prst="rect">
            <a:avLst/>
          </a:prstGeom>
          <a:noFill/>
        </p:spPr>
        <p:txBody>
          <a:bodyPr wrap="square" anchor="t" lIns="0" rIns="0" tIns="0" bIns="0">
            <a:spAutoFit/>
          </a:bodyPr>
          <a:lstStyle/>
          <a:p>
            <a:pPr algn="l">
              <a:lnSpc>
                <a:spcPct val="135000"/>
              </a:lnSpc>
            </a:pPr>
            <a:r>
              <a:rPr sz="900" b="0">
                <a:solidFill>
                  <a:srgbClr val="5B6775"/>
                </a:solidFill>
                <a:latin typeface="Consolas"/>
              </a:rPr>
              <a:t>three_uav_tapbridge_integrated</a:t>
            </a:r>
          </a:p>
          <a:p>
            <a:pPr algn="l">
              <a:lnSpc>
                <a:spcPct val="135000"/>
              </a:lnSpc>
            </a:pPr>
            <a:r>
              <a:rPr sz="900" b="0">
                <a:solidFill>
                  <a:srgbClr val="5B6775"/>
                </a:solidFill>
                <a:latin typeface="Consolas"/>
              </a:rPr>
              <a:t>TapBridge injects the channel</a:t>
            </a:r>
          </a:p>
          <a:p>
            <a:pPr algn="l">
              <a:lnSpc>
                <a:spcPct val="135000"/>
              </a:lnSpc>
            </a:pPr>
            <a:r>
              <a:rPr sz="900" b="0">
                <a:solidFill>
                  <a:srgbClr val="5B6775"/>
                </a:solidFill>
                <a:latin typeface="Consolas"/>
              </a:rPr>
              <a:t>model into real Linux packets</a:t>
            </a:r>
          </a:p>
          <a:p>
            <a:pPr algn="l">
              <a:lnSpc>
                <a:spcPct val="135000"/>
              </a:lnSpc>
            </a:pPr>
            <a:r>
              <a:rPr sz="900" b="0">
                <a:solidFill>
                  <a:srgbClr val="5B6775"/>
                </a:solidFill>
                <a:latin typeface="Consolas"/>
              </a:rPr>
              <a:t>802.11 · Nakagami fading</a:t>
            </a:r>
          </a:p>
          <a:p>
            <a:pPr algn="l">
              <a:lnSpc>
                <a:spcPct val="135000"/>
              </a:lnSpc>
            </a:pPr>
            <a:r>
              <a:rPr sz="900" b="0">
                <a:solidFill>
                  <a:srgbClr val="5B6775"/>
                </a:solidFill>
                <a:latin typeface="Consolas"/>
              </a:rPr>
              <a:t>nodes 0–3 · GCS + UAVs + edge</a:t>
            </a:r>
          </a:p>
          <a:p>
            <a:pPr algn="l">
              <a:lnSpc>
                <a:spcPct val="135000"/>
              </a:lnSpc>
            </a:pPr>
            <a:r>
              <a:rPr sz="900" b="0">
                <a:solidFill>
                  <a:srgbClr val="5B6775"/>
                </a:solidFill>
                <a:latin typeface="Consolas"/>
              </a:rPr>
              <a:t/>
            </a:r>
          </a:p>
          <a:p>
            <a:pPr algn="l">
              <a:lnSpc>
                <a:spcPct val="135000"/>
              </a:lnSpc>
            </a:pPr>
            <a:r>
              <a:rPr sz="900" b="0">
                <a:solidFill>
                  <a:srgbClr val="5B6775"/>
                </a:solidFill>
                <a:latin typeface="Consolas"/>
              </a:rPr>
              <a:t>Detections cross HERE.</a:t>
            </a:r>
          </a:p>
          <a:p>
            <a:pPr algn="l">
              <a:lnSpc>
                <a:spcPct val="135000"/>
              </a:lnSpc>
            </a:pPr>
            <a:r>
              <a:rPr sz="900" b="0">
                <a:solidFill>
                  <a:srgbClr val="5B6775"/>
                </a:solidFill>
                <a:latin typeface="Consolas"/>
              </a:rPr>
              <a:t>Camera frames never do.</a:t>
            </a:r>
          </a:p>
        </p:txBody>
      </p:sp>
      <p:sp>
        <p:nvSpPr>
          <p:cNvPr id="29" name="TextBox 28"/>
          <p:cNvSpPr txBox="1"/>
          <p:nvPr/>
        </p:nvSpPr>
        <p:spPr>
          <a:xfrm>
            <a:off x="6903720" y="1947672"/>
            <a:ext cx="274320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EDGE NODES</a:t>
            </a:r>
          </a:p>
        </p:txBody>
      </p:sp>
      <p:sp>
        <p:nvSpPr>
          <p:cNvPr id="30" name="Rectangle 29"/>
          <p:cNvSpPr/>
          <p:nvPr/>
        </p:nvSpPr>
        <p:spPr>
          <a:xfrm>
            <a:off x="6903720" y="2194560"/>
            <a:ext cx="4800600" cy="1536192"/>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059168" y="2313432"/>
            <a:ext cx="4480560" cy="228600"/>
          </a:xfrm>
          <a:prstGeom prst="rect">
            <a:avLst/>
          </a:prstGeom>
          <a:noFill/>
        </p:spPr>
        <p:txBody>
          <a:bodyPr wrap="square" anchor="t" lIns="0" rIns="0" tIns="0" bIns="0">
            <a:spAutoFit/>
          </a:bodyPr>
          <a:lstStyle/>
          <a:p>
            <a:pPr algn="l">
              <a:lnSpc>
                <a:spcPct val="100000"/>
              </a:lnSpc>
            </a:pPr>
            <a:r>
              <a:rPr sz="1150" b="1">
                <a:solidFill>
                  <a:srgbClr val="141C26"/>
                </a:solidFill>
                <a:latin typeface="Calibri"/>
              </a:rPr>
              <a:t>Raspberry Pi 4B — UAV1 edge node</a:t>
            </a:r>
          </a:p>
        </p:txBody>
      </p:sp>
      <p:sp>
        <p:nvSpPr>
          <p:cNvPr id="32" name="TextBox 31"/>
          <p:cNvSpPr txBox="1"/>
          <p:nvPr/>
        </p:nvSpPr>
        <p:spPr>
          <a:xfrm>
            <a:off x="7059168" y="2578608"/>
            <a:ext cx="4480560" cy="1097280"/>
          </a:xfrm>
          <a:prstGeom prst="rect">
            <a:avLst/>
          </a:prstGeom>
          <a:noFill/>
        </p:spPr>
        <p:txBody>
          <a:bodyPr wrap="square" anchor="t" lIns="0" rIns="0" tIns="0" bIns="0">
            <a:spAutoFit/>
          </a:bodyPr>
          <a:lstStyle/>
          <a:p>
            <a:pPr algn="l">
              <a:lnSpc>
                <a:spcPct val="135000"/>
              </a:lnSpc>
            </a:pPr>
            <a:r>
              <a:rPr sz="950" b="0">
                <a:solidFill>
                  <a:srgbClr val="5B6775"/>
                </a:solidFill>
                <a:latin typeface="Consolas"/>
              </a:rPr>
              <a:t>YOLO11n · OpenVINO FP32 · 384×640</a:t>
            </a:r>
          </a:p>
          <a:p>
            <a:pPr algn="l">
              <a:lnSpc>
                <a:spcPct val="135000"/>
              </a:lnSpc>
            </a:pPr>
            <a:r>
              <a:rPr sz="950" b="0">
                <a:solidFill>
                  <a:srgbClr val="5B6775"/>
                </a:solidFill>
                <a:latin typeface="Consolas"/>
              </a:rPr>
              <a:t>conf 0.40 · class 0 (person)</a:t>
            </a:r>
          </a:p>
          <a:p>
            <a:pPr algn="l">
              <a:lnSpc>
                <a:spcPct val="135000"/>
              </a:lnSpc>
            </a:pPr>
            <a:r>
              <a:rPr sz="950" b="0">
                <a:solidFill>
                  <a:srgbClr val="5B6775"/>
                </a:solidFill>
                <a:latin typeface="Consolas"/>
              </a:rPr>
              <a:t>cam 10.0.0.2   ·   radio 10.42.0.12</a:t>
            </a:r>
          </a:p>
          <a:p>
            <a:pPr algn="l">
              <a:lnSpc>
                <a:spcPct val="135000"/>
              </a:lnSpc>
            </a:pPr>
            <a:r>
              <a:rPr sz="950" b="0">
                <a:solidFill>
                  <a:srgbClr val="5B6775"/>
                </a:solidFill>
                <a:latin typeface="Consolas"/>
              </a:rPr>
              <a:t>measured: 337 ms · 2.85 fps</a:t>
            </a:r>
          </a:p>
        </p:txBody>
      </p:sp>
      <p:sp>
        <p:nvSpPr>
          <p:cNvPr id="33" name="Rectangle 32"/>
          <p:cNvSpPr/>
          <p:nvPr/>
        </p:nvSpPr>
        <p:spPr>
          <a:xfrm>
            <a:off x="6903720" y="3968496"/>
            <a:ext cx="4800600" cy="1536192"/>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059168" y="4087368"/>
            <a:ext cx="4480560" cy="228600"/>
          </a:xfrm>
          <a:prstGeom prst="rect">
            <a:avLst/>
          </a:prstGeom>
          <a:noFill/>
        </p:spPr>
        <p:txBody>
          <a:bodyPr wrap="square" anchor="t" lIns="0" rIns="0" tIns="0" bIns="0">
            <a:spAutoFit/>
          </a:bodyPr>
          <a:lstStyle/>
          <a:p>
            <a:pPr algn="l">
              <a:lnSpc>
                <a:spcPct val="100000"/>
              </a:lnSpc>
            </a:pPr>
            <a:r>
              <a:rPr sz="1150" b="1">
                <a:solidFill>
                  <a:srgbClr val="141C26"/>
                </a:solidFill>
                <a:latin typeface="Calibri"/>
              </a:rPr>
              <a:t>Raspberry Pi 4B — UAV2 edge node</a:t>
            </a:r>
          </a:p>
        </p:txBody>
      </p:sp>
      <p:sp>
        <p:nvSpPr>
          <p:cNvPr id="35" name="TextBox 34"/>
          <p:cNvSpPr txBox="1"/>
          <p:nvPr/>
        </p:nvSpPr>
        <p:spPr>
          <a:xfrm>
            <a:off x="7059168" y="4352544"/>
            <a:ext cx="4480560" cy="1097280"/>
          </a:xfrm>
          <a:prstGeom prst="rect">
            <a:avLst/>
          </a:prstGeom>
          <a:noFill/>
        </p:spPr>
        <p:txBody>
          <a:bodyPr wrap="square" anchor="t" lIns="0" rIns="0" tIns="0" bIns="0">
            <a:spAutoFit/>
          </a:bodyPr>
          <a:lstStyle/>
          <a:p>
            <a:pPr algn="l">
              <a:lnSpc>
                <a:spcPct val="135000"/>
              </a:lnSpc>
            </a:pPr>
            <a:r>
              <a:rPr sz="950" b="0">
                <a:solidFill>
                  <a:srgbClr val="5B6775"/>
                </a:solidFill>
                <a:latin typeface="Consolas"/>
              </a:rPr>
              <a:t>YOLO11n · OpenVINO FP32 · 384×640</a:t>
            </a:r>
          </a:p>
          <a:p>
            <a:pPr algn="l">
              <a:lnSpc>
                <a:spcPct val="135000"/>
              </a:lnSpc>
            </a:pPr>
            <a:r>
              <a:rPr sz="950" b="0">
                <a:solidFill>
                  <a:srgbClr val="5B6775"/>
                </a:solidFill>
                <a:latin typeface="Consolas"/>
              </a:rPr>
              <a:t>conf 0.40 · class 0 (person)</a:t>
            </a:r>
          </a:p>
          <a:p>
            <a:pPr algn="l">
              <a:lnSpc>
                <a:spcPct val="135000"/>
              </a:lnSpc>
            </a:pPr>
            <a:r>
              <a:rPr sz="950" b="0">
                <a:solidFill>
                  <a:srgbClr val="5B6775"/>
                </a:solidFill>
                <a:latin typeface="Consolas"/>
              </a:rPr>
              <a:t>cam 10.0.1.2   ·   radio 10.42.0.14</a:t>
            </a:r>
          </a:p>
          <a:p>
            <a:pPr algn="l">
              <a:lnSpc>
                <a:spcPct val="135000"/>
              </a:lnSpc>
            </a:pPr>
            <a:r>
              <a:rPr sz="950" b="0">
                <a:solidFill>
                  <a:srgbClr val="5B6775"/>
                </a:solidFill>
                <a:latin typeface="Consolas"/>
              </a:rPr>
              <a:t>measured: 240 ms · 4.01 fps</a:t>
            </a:r>
          </a:p>
        </p:txBody>
      </p:sp>
      <p:sp>
        <p:nvSpPr>
          <p:cNvPr id="36" name="Rectangle 35"/>
          <p:cNvSpPr/>
          <p:nvPr/>
        </p:nvSpPr>
        <p:spPr>
          <a:xfrm>
            <a:off x="3447288" y="2395728"/>
            <a:ext cx="3227832" cy="32004"/>
          </a:xfrm>
          <a:prstGeom prst="rect">
            <a:avLst/>
          </a:prstGeom>
          <a:solidFill>
            <a:srgbClr val="0B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47688" y="2395728"/>
            <a:ext cx="32004" cy="2359152"/>
          </a:xfrm>
          <a:prstGeom prst="rect">
            <a:avLst/>
          </a:prstGeom>
          <a:solidFill>
            <a:srgbClr val="0B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647688" y="2779776"/>
            <a:ext cx="274320" cy="32004"/>
          </a:xfrm>
          <a:prstGeom prst="rect">
            <a:avLst/>
          </a:prstGeom>
          <a:solidFill>
            <a:srgbClr val="0B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647688" y="4736592"/>
            <a:ext cx="274320" cy="32004"/>
          </a:xfrm>
          <a:prstGeom prst="rect">
            <a:avLst/>
          </a:prstGeom>
          <a:solidFill>
            <a:srgbClr val="0B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0" y="2121408"/>
            <a:ext cx="3017520" cy="228600"/>
          </a:xfrm>
          <a:prstGeom prst="rect">
            <a:avLst/>
          </a:prstGeom>
          <a:noFill/>
        </p:spPr>
        <p:txBody>
          <a:bodyPr wrap="square" anchor="t" lIns="0" rIns="0" tIns="0" bIns="0">
            <a:spAutoFit/>
          </a:bodyPr>
          <a:lstStyle/>
          <a:p>
            <a:pPr algn="l">
              <a:lnSpc>
                <a:spcPct val="100000"/>
              </a:lnSpc>
            </a:pPr>
            <a:r>
              <a:rPr sz="900" b="1">
                <a:solidFill>
                  <a:srgbClr val="0B6E7F"/>
                </a:solidFill>
                <a:latin typeface="Consolas"/>
              </a:rPr>
              <a:t>camera frames · 737 KB/frame</a:t>
            </a:r>
          </a:p>
        </p:txBody>
      </p:sp>
      <p:sp>
        <p:nvSpPr>
          <p:cNvPr id="41" name="Rectangle 40"/>
          <p:cNvSpPr/>
          <p:nvPr/>
        </p:nvSpPr>
        <p:spPr>
          <a:xfrm>
            <a:off x="6382512" y="3401568"/>
            <a:ext cx="530352" cy="32004"/>
          </a:xfrm>
          <a:prstGeom prst="rect">
            <a:avLst/>
          </a:prstGeom>
          <a:solidFill>
            <a:srgbClr val="B043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82512" y="5175504"/>
            <a:ext cx="530352" cy="32004"/>
          </a:xfrm>
          <a:prstGeom prst="rect">
            <a:avLst/>
          </a:prstGeom>
          <a:solidFill>
            <a:srgbClr val="B043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447288" y="4937760"/>
            <a:ext cx="219456" cy="32004"/>
          </a:xfrm>
          <a:prstGeom prst="rect">
            <a:avLst/>
          </a:prstGeom>
          <a:solidFill>
            <a:srgbClr val="B043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767328" y="5230368"/>
            <a:ext cx="2743200" cy="228600"/>
          </a:xfrm>
          <a:prstGeom prst="rect">
            <a:avLst/>
          </a:prstGeom>
          <a:noFill/>
        </p:spPr>
        <p:txBody>
          <a:bodyPr wrap="square" anchor="t" lIns="0" rIns="0" tIns="0" bIns="0">
            <a:spAutoFit/>
          </a:bodyPr>
          <a:lstStyle/>
          <a:p>
            <a:pPr algn="l">
              <a:lnSpc>
                <a:spcPct val="100000"/>
              </a:lnSpc>
            </a:pPr>
            <a:r>
              <a:rPr sz="900" b="1">
                <a:solidFill>
                  <a:srgbClr val="B0430B"/>
                </a:solidFill>
                <a:latin typeface="Consolas"/>
              </a:rPr>
              <a:t>detections · 73–504 B JSON</a:t>
            </a:r>
          </a:p>
        </p:txBody>
      </p:sp>
      <p:sp>
        <p:nvSpPr>
          <p:cNvPr id="45" name="TextBox 44"/>
          <p:cNvSpPr txBox="1"/>
          <p:nvPr/>
        </p:nvSpPr>
        <p:spPr>
          <a:xfrm>
            <a:off x="502920" y="5797296"/>
            <a:ext cx="352044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ISOLATION IS REAL, NOT SIMULATED</a:t>
            </a:r>
          </a:p>
        </p:txBody>
      </p:sp>
      <p:sp>
        <p:nvSpPr>
          <p:cNvPr id="46" name="TextBox 45"/>
          <p:cNvSpPr txBox="1"/>
          <p:nvPr/>
        </p:nvSpPr>
        <p:spPr>
          <a:xfrm>
            <a:off x="502920" y="6007608"/>
            <a:ext cx="3520440" cy="822960"/>
          </a:xfrm>
          <a:prstGeom prst="rect">
            <a:avLst/>
          </a:prstGeom>
          <a:noFill/>
        </p:spPr>
        <p:txBody>
          <a:bodyPr wrap="square" anchor="t" lIns="0" rIns="0" tIns="0" bIns="0">
            <a:spAutoFit/>
          </a:bodyPr>
          <a:lstStyle/>
          <a:p>
            <a:pPr algn="l">
              <a:lnSpc>
                <a:spcPct val="112000"/>
              </a:lnSpc>
            </a:pPr>
            <a:r>
              <a:rPr sz="900" b="0">
                <a:solidFill>
                  <a:srgbClr val="5B6775"/>
                </a:solidFill>
                <a:latin typeface="Calibri"/>
              </a:rPr>
              <a:t>Network namespaces give each aircraft a genuine kernel stack — separate routing tables and its own 127.0.0.1. Nothing shortcuts through loopback, so the packets ns-3 degrades are the packets the flight code sent.</a:t>
            </a:r>
          </a:p>
        </p:txBody>
      </p:sp>
      <p:sp>
        <p:nvSpPr>
          <p:cNvPr id="47" name="TextBox 46"/>
          <p:cNvSpPr txBox="1"/>
          <p:nvPr/>
        </p:nvSpPr>
        <p:spPr>
          <a:xfrm>
            <a:off x="4297680" y="5797296"/>
            <a:ext cx="352044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ONE CABLE, TWO NETWORKS</a:t>
            </a:r>
          </a:p>
        </p:txBody>
      </p:sp>
      <p:sp>
        <p:nvSpPr>
          <p:cNvPr id="48" name="TextBox 47"/>
          <p:cNvSpPr txBox="1"/>
          <p:nvPr/>
        </p:nvSpPr>
        <p:spPr>
          <a:xfrm>
            <a:off x="4297680" y="6007608"/>
            <a:ext cx="3520440" cy="822960"/>
          </a:xfrm>
          <a:prstGeom prst="rect">
            <a:avLst/>
          </a:prstGeom>
          <a:noFill/>
        </p:spPr>
        <p:txBody>
          <a:bodyPr wrap="square" anchor="t" lIns="0" rIns="0" tIns="0" bIns="0">
            <a:spAutoFit/>
          </a:bodyPr>
          <a:lstStyle/>
          <a:p>
            <a:pPr algn="l">
              <a:lnSpc>
                <a:spcPct val="112000"/>
              </a:lnSpc>
            </a:pPr>
            <a:r>
              <a:rPr sz="900" b="0">
                <a:solidFill>
                  <a:srgbClr val="5B6775"/>
                </a:solidFill>
                <a:latin typeface="Calibri"/>
              </a:rPr>
              <a:t>802.1Q VLAN tagging splits each board's link. VLAN 10 behaves like a camera ribbon; VLAN 42/43 is bridged into ns-3 — modelling an airframe where sensor bus and radio are separate systems.</a:t>
            </a:r>
          </a:p>
        </p:txBody>
      </p:sp>
      <p:sp>
        <p:nvSpPr>
          <p:cNvPr id="49" name="TextBox 48"/>
          <p:cNvSpPr txBox="1"/>
          <p:nvPr/>
        </p:nvSpPr>
        <p:spPr>
          <a:xfrm>
            <a:off x="8092440" y="5797296"/>
            <a:ext cx="352044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ONLY RESULTS CROSS THE RADIO</a:t>
            </a:r>
          </a:p>
        </p:txBody>
      </p:sp>
      <p:sp>
        <p:nvSpPr>
          <p:cNvPr id="50" name="TextBox 49"/>
          <p:cNvSpPr txBox="1"/>
          <p:nvPr/>
        </p:nvSpPr>
        <p:spPr>
          <a:xfrm>
            <a:off x="8092440" y="6007608"/>
            <a:ext cx="3520440" cy="822960"/>
          </a:xfrm>
          <a:prstGeom prst="rect">
            <a:avLst/>
          </a:prstGeom>
          <a:noFill/>
        </p:spPr>
        <p:txBody>
          <a:bodyPr wrap="square" anchor="t" lIns="0" rIns="0" tIns="0" bIns="0">
            <a:spAutoFit/>
          </a:bodyPr>
          <a:lstStyle/>
          <a:p>
            <a:pPr algn="l">
              <a:lnSpc>
                <a:spcPct val="112000"/>
              </a:lnSpc>
            </a:pPr>
            <a:r>
              <a:rPr sz="900" b="0">
                <a:solidFill>
                  <a:srgbClr val="5B6775"/>
                </a:solidFill>
                <a:latin typeface="Calibri"/>
              </a:rPr>
              <a:t>A 737 KB frame stays on the sensor link. What crosses the degraded channel is 73–504 bytes of JSON. That reduction is the architectural claim edge processing makes, and what this experiment measures.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384048" cy="27432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29768"/>
            <a:ext cx="384048" cy="228600"/>
          </a:xfrm>
          <a:prstGeom prst="rect">
            <a:avLst/>
          </a:prstGeom>
          <a:noFill/>
        </p:spPr>
        <p:txBody>
          <a:bodyPr wrap="square" anchor="t" lIns="0" rIns="0" tIns="0" bIns="0">
            <a:spAutoFit/>
          </a:bodyPr>
          <a:lstStyle/>
          <a:p>
            <a:pPr algn="ctr">
              <a:lnSpc>
                <a:spcPct val="100000"/>
              </a:lnSpc>
            </a:pPr>
            <a:r>
              <a:rPr sz="1100" b="1">
                <a:solidFill>
                  <a:srgbClr val="FFFFFF"/>
                </a:solidFill>
                <a:latin typeface="Consolas"/>
              </a:rPr>
              <a:t>02</a:t>
            </a:r>
          </a:p>
        </p:txBody>
      </p:sp>
      <p:sp>
        <p:nvSpPr>
          <p:cNvPr id="4" name="TextBox 3"/>
          <p:cNvSpPr txBox="1"/>
          <p:nvPr/>
        </p:nvSpPr>
        <p:spPr>
          <a:xfrm>
            <a:off x="1024128" y="301752"/>
            <a:ext cx="8046720" cy="502920"/>
          </a:xfrm>
          <a:prstGeom prst="rect">
            <a:avLst/>
          </a:prstGeom>
          <a:noFill/>
        </p:spPr>
        <p:txBody>
          <a:bodyPr wrap="square" anchor="t" lIns="0" rIns="0" tIns="0" bIns="0">
            <a:spAutoFit/>
          </a:bodyPr>
          <a:lstStyle/>
          <a:p>
            <a:pPr algn="l">
              <a:lnSpc>
                <a:spcPct val="92000"/>
              </a:lnSpc>
            </a:pPr>
            <a:r>
              <a:rPr sz="2300" b="1">
                <a:solidFill>
                  <a:srgbClr val="141C26"/>
                </a:solidFill>
                <a:latin typeface="Calibri"/>
              </a:rPr>
              <a:t>Human detection on the airframe</a:t>
            </a:r>
          </a:p>
        </p:txBody>
      </p:sp>
      <p:sp>
        <p:nvSpPr>
          <p:cNvPr id="5" name="TextBox 4"/>
          <p:cNvSpPr txBox="1"/>
          <p:nvPr/>
        </p:nvSpPr>
        <p:spPr>
          <a:xfrm>
            <a:off x="9235440" y="429768"/>
            <a:ext cx="2468880" cy="274320"/>
          </a:xfrm>
          <a:prstGeom prst="rect">
            <a:avLst/>
          </a:prstGeom>
          <a:noFill/>
        </p:spPr>
        <p:txBody>
          <a:bodyPr wrap="square" anchor="t" lIns="0" rIns="0" tIns="0" bIns="0">
            <a:spAutoFit/>
          </a:bodyPr>
          <a:lstStyle/>
          <a:p>
            <a:pPr algn="r">
              <a:lnSpc>
                <a:spcPct val="100000"/>
              </a:lnSpc>
            </a:pPr>
            <a:r>
              <a:rPr sz="1000" b="0">
                <a:solidFill>
                  <a:srgbClr val="8A94A1"/>
                </a:solidFill>
                <a:latin typeface="Consolas"/>
              </a:rPr>
              <a:t>EDGE INFERENCE</a:t>
            </a:r>
          </a:p>
        </p:txBody>
      </p:sp>
      <p:sp>
        <p:nvSpPr>
          <p:cNvPr id="6" name="Rectangle 5"/>
          <p:cNvSpPr/>
          <p:nvPr/>
        </p:nvSpPr>
        <p:spPr>
          <a:xfrm>
            <a:off x="502920" y="868680"/>
            <a:ext cx="11173968" cy="20116"/>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05840"/>
            <a:ext cx="11155680" cy="365760"/>
          </a:xfrm>
          <a:prstGeom prst="rect">
            <a:avLst/>
          </a:prstGeom>
          <a:noFill/>
        </p:spPr>
        <p:txBody>
          <a:bodyPr wrap="square" anchor="t" lIns="0" rIns="0" tIns="0" bIns="0">
            <a:spAutoFit/>
          </a:bodyPr>
          <a:lstStyle/>
          <a:p>
            <a:pPr algn="l">
              <a:lnSpc>
                <a:spcPct val="112000"/>
              </a:lnSpc>
            </a:pPr>
            <a:r>
              <a:rPr sz="1150" b="0">
                <a:solidFill>
                  <a:srgbClr val="5B6775"/>
                </a:solidFill>
                <a:latin typeface="Calibri"/>
              </a:rPr>
              <a:t>Each board subscribes to its own aircraft's camera, runs YOLO11n under OpenVINO, and publishes only the bounding boxes. Whether a person is detectable at all is set by six physical and software parameters, derived and measured below.</a:t>
            </a:r>
          </a:p>
        </p:txBody>
      </p:sp>
      <p:sp>
        <p:nvSpPr>
          <p:cNvPr id="8" name="Rectangle 7"/>
          <p:cNvSpPr/>
          <p:nvPr/>
        </p:nvSpPr>
        <p:spPr>
          <a:xfrm>
            <a:off x="502920" y="1481328"/>
            <a:ext cx="5074920" cy="2468880"/>
          </a:xfrm>
          <a:prstGeom prst="rect">
            <a:avLst/>
          </a:prstGeom>
          <a:solidFill>
            <a:srgbClr val="F4F6F8"/>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3401568"/>
            <a:ext cx="4389120" cy="23774"/>
          </a:xfrm>
          <a:prstGeom prst="rect">
            <a:avLst/>
          </a:prstGeom>
          <a:solidFill>
            <a:srgbClr val="8A94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483864"/>
            <a:ext cx="914400" cy="164592"/>
          </a:xfrm>
          <a:prstGeom prst="rect">
            <a:avLst/>
          </a:prstGeom>
          <a:noFill/>
        </p:spPr>
        <p:txBody>
          <a:bodyPr wrap="square" anchor="t" lIns="0" rIns="0" tIns="0" bIns="0">
            <a:spAutoFit/>
          </a:bodyPr>
          <a:lstStyle/>
          <a:p>
            <a:pPr algn="l">
              <a:lnSpc>
                <a:spcPct val="100000"/>
              </a:lnSpc>
            </a:pPr>
            <a:r>
              <a:rPr sz="750" b="1">
                <a:solidFill>
                  <a:srgbClr val="8A94A1"/>
                </a:solidFill>
                <a:latin typeface="Consolas"/>
              </a:rPr>
              <a:t>GROUND</a:t>
            </a:r>
          </a:p>
        </p:txBody>
      </p:sp>
      <p:sp>
        <p:nvSpPr>
          <p:cNvPr id="11" name="Freeform 10"/>
          <p:cNvSpPr/>
          <p:nvPr/>
        </p:nvSpPr>
        <p:spPr>
          <a:xfrm>
            <a:off x="1463040" y="1755648"/>
            <a:ext cx="3200400" cy="1645920"/>
          </a:xfrm>
          <a:custGeom>
            <a:avLst/>
            <a:gdLst/>
            <a:ahLst/>
            <a:cxnLst/>
            <a:rect l="l" t="t" r="r" b="b"/>
            <a:pathLst>
              <a:path w="3200400" h="1645920">
                <a:moveTo>
                  <a:pt x="0" y="0"/>
                </a:moveTo>
                <a:lnTo>
                  <a:pt x="914399" y="1645920"/>
                </a:lnTo>
                <a:lnTo>
                  <a:pt x="3200400" y="1645920"/>
                </a:lnTo>
                <a:close/>
              </a:path>
            </a:pathLst>
          </a:custGeom>
          <a:solidFill>
            <a:srgbClr val="DCEEF1"/>
          </a:solidFill>
          <a:ln w="12700">
            <a:solidFill>
              <a:srgbClr val="0B6E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70432" y="1682496"/>
            <a:ext cx="658368" cy="237744"/>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234440" y="1719072"/>
            <a:ext cx="548640" cy="164592"/>
          </a:xfrm>
          <a:prstGeom prst="rect">
            <a:avLst/>
          </a:prstGeom>
          <a:noFill/>
        </p:spPr>
        <p:txBody>
          <a:bodyPr wrap="square" anchor="t" lIns="0" rIns="0" tIns="0" bIns="0">
            <a:spAutoFit/>
          </a:bodyPr>
          <a:lstStyle/>
          <a:p>
            <a:pPr algn="l">
              <a:lnSpc>
                <a:spcPct val="100000"/>
              </a:lnSpc>
            </a:pPr>
            <a:r>
              <a:rPr sz="800" b="1">
                <a:solidFill>
                  <a:srgbClr val="141C26"/>
                </a:solidFill>
                <a:latin typeface="Calibri"/>
              </a:rPr>
              <a:t>UAV</a:t>
            </a:r>
          </a:p>
        </p:txBody>
      </p:sp>
      <p:sp>
        <p:nvSpPr>
          <p:cNvPr id="14" name="Rectangle 13"/>
          <p:cNvSpPr/>
          <p:nvPr/>
        </p:nvSpPr>
        <p:spPr>
          <a:xfrm>
            <a:off x="1463040" y="1929384"/>
            <a:ext cx="14630" cy="1472184"/>
          </a:xfrm>
          <a:prstGeom prst="rect">
            <a:avLst/>
          </a:prstGeom>
          <a:solidFill>
            <a:srgbClr val="8A94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2395728"/>
            <a:ext cx="548640" cy="164592"/>
          </a:xfrm>
          <a:prstGeom prst="rect">
            <a:avLst/>
          </a:prstGeom>
          <a:noFill/>
        </p:spPr>
        <p:txBody>
          <a:bodyPr wrap="square" anchor="t" lIns="0" rIns="0" tIns="0" bIns="0">
            <a:spAutoFit/>
          </a:bodyPr>
          <a:lstStyle/>
          <a:p>
            <a:pPr algn="l">
              <a:lnSpc>
                <a:spcPct val="100000"/>
              </a:lnSpc>
            </a:pPr>
            <a:r>
              <a:rPr sz="750" b="0">
                <a:solidFill>
                  <a:srgbClr val="5B6775"/>
                </a:solidFill>
                <a:latin typeface="Consolas"/>
              </a:rPr>
              <a:t>30 m</a:t>
            </a:r>
          </a:p>
        </p:txBody>
      </p:sp>
      <p:sp>
        <p:nvSpPr>
          <p:cNvPr id="16" name="Rectangle 15"/>
          <p:cNvSpPr/>
          <p:nvPr/>
        </p:nvSpPr>
        <p:spPr>
          <a:xfrm>
            <a:off x="1463040" y="3374136"/>
            <a:ext cx="914399" cy="41148"/>
          </a:xfrm>
          <a:prstGeom prst="rect">
            <a:avLst/>
          </a:prstGeom>
          <a:solidFill>
            <a:srgbClr val="B043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3154680"/>
            <a:ext cx="1737360" cy="164592"/>
          </a:xfrm>
          <a:prstGeom prst="rect">
            <a:avLst/>
          </a:prstGeom>
          <a:noFill/>
        </p:spPr>
        <p:txBody>
          <a:bodyPr wrap="square" anchor="t" lIns="0" rIns="0" tIns="0" bIns="0">
            <a:spAutoFit/>
          </a:bodyPr>
          <a:lstStyle/>
          <a:p>
            <a:pPr algn="l">
              <a:lnSpc>
                <a:spcPct val="100000"/>
              </a:lnSpc>
            </a:pPr>
            <a:r>
              <a:rPr sz="750" b="1">
                <a:solidFill>
                  <a:srgbClr val="B0430B"/>
                </a:solidFill>
                <a:latin typeface="Consolas"/>
              </a:rPr>
              <a:t>blind: 0–20.6 m</a:t>
            </a:r>
          </a:p>
        </p:txBody>
      </p:sp>
      <p:sp>
        <p:nvSpPr>
          <p:cNvPr id="18" name="TextBox 17"/>
          <p:cNvSpPr txBox="1"/>
          <p:nvPr/>
        </p:nvSpPr>
        <p:spPr>
          <a:xfrm>
            <a:off x="2121407" y="3483864"/>
            <a:ext cx="731520" cy="164592"/>
          </a:xfrm>
          <a:prstGeom prst="rect">
            <a:avLst/>
          </a:prstGeom>
          <a:noFill/>
        </p:spPr>
        <p:txBody>
          <a:bodyPr wrap="square" anchor="t" lIns="0" rIns="0" tIns="0" bIns="0">
            <a:spAutoFit/>
          </a:bodyPr>
          <a:lstStyle/>
          <a:p>
            <a:pPr algn="l">
              <a:lnSpc>
                <a:spcPct val="100000"/>
              </a:lnSpc>
            </a:pPr>
            <a:r>
              <a:rPr sz="750" b="0">
                <a:solidFill>
                  <a:srgbClr val="5B6775"/>
                </a:solidFill>
                <a:latin typeface="Consolas"/>
              </a:rPr>
              <a:t>20.6 m</a:t>
            </a:r>
          </a:p>
        </p:txBody>
      </p:sp>
      <p:sp>
        <p:nvSpPr>
          <p:cNvPr id="19" name="TextBox 18"/>
          <p:cNvSpPr txBox="1"/>
          <p:nvPr/>
        </p:nvSpPr>
        <p:spPr>
          <a:xfrm>
            <a:off x="4407407" y="3483864"/>
            <a:ext cx="731520" cy="164592"/>
          </a:xfrm>
          <a:prstGeom prst="rect">
            <a:avLst/>
          </a:prstGeom>
          <a:noFill/>
        </p:spPr>
        <p:txBody>
          <a:bodyPr wrap="square" anchor="t" lIns="0" rIns="0" tIns="0" bIns="0">
            <a:spAutoFit/>
          </a:bodyPr>
          <a:lstStyle/>
          <a:p>
            <a:pPr algn="l">
              <a:lnSpc>
                <a:spcPct val="100000"/>
              </a:lnSpc>
            </a:pPr>
            <a:r>
              <a:rPr sz="750" b="0">
                <a:solidFill>
                  <a:srgbClr val="5B6775"/>
                </a:solidFill>
                <a:latin typeface="Consolas"/>
              </a:rPr>
              <a:t>43.6 m</a:t>
            </a:r>
          </a:p>
        </p:txBody>
      </p:sp>
      <p:sp>
        <p:nvSpPr>
          <p:cNvPr id="20" name="TextBox 19"/>
          <p:cNvSpPr txBox="1"/>
          <p:nvPr/>
        </p:nvSpPr>
        <p:spPr>
          <a:xfrm>
            <a:off x="3017520" y="3163824"/>
            <a:ext cx="1188720" cy="164592"/>
          </a:xfrm>
          <a:prstGeom prst="rect">
            <a:avLst/>
          </a:prstGeom>
          <a:noFill/>
        </p:spPr>
        <p:txBody>
          <a:bodyPr wrap="square" anchor="t" lIns="0" rIns="0" tIns="0" bIns="0">
            <a:spAutoFit/>
          </a:bodyPr>
          <a:lstStyle/>
          <a:p>
            <a:pPr algn="l">
              <a:lnSpc>
                <a:spcPct val="100000"/>
              </a:lnSpc>
            </a:pPr>
            <a:r>
              <a:rPr sz="750" b="1">
                <a:solidFill>
                  <a:srgbClr val="0B6E7F"/>
                </a:solidFill>
                <a:latin typeface="Consolas"/>
              </a:rPr>
              <a:t>visible band</a:t>
            </a:r>
          </a:p>
        </p:txBody>
      </p:sp>
      <p:sp>
        <p:nvSpPr>
          <p:cNvPr id="21" name="Rectangle 20"/>
          <p:cNvSpPr/>
          <p:nvPr/>
        </p:nvSpPr>
        <p:spPr>
          <a:xfrm>
            <a:off x="3520439" y="3264408"/>
            <a:ext cx="27432" cy="13716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399" y="2999232"/>
            <a:ext cx="914400" cy="164592"/>
          </a:xfrm>
          <a:prstGeom prst="rect">
            <a:avLst/>
          </a:prstGeom>
          <a:noFill/>
        </p:spPr>
        <p:txBody>
          <a:bodyPr wrap="square" anchor="t" lIns="0" rIns="0" tIns="0" bIns="0">
            <a:spAutoFit/>
          </a:bodyPr>
          <a:lstStyle/>
          <a:p>
            <a:pPr algn="l">
              <a:lnSpc>
                <a:spcPct val="100000"/>
              </a:lnSpc>
            </a:pPr>
            <a:r>
              <a:rPr sz="750" b="0">
                <a:solidFill>
                  <a:srgbClr val="141C26"/>
                </a:solidFill>
                <a:latin typeface="Consolas"/>
              </a:rPr>
              <a:t>≈30 px</a:t>
            </a:r>
          </a:p>
        </p:txBody>
      </p:sp>
      <p:sp>
        <p:nvSpPr>
          <p:cNvPr id="23" name="TextBox 22"/>
          <p:cNvSpPr txBox="1"/>
          <p:nvPr/>
        </p:nvSpPr>
        <p:spPr>
          <a:xfrm>
            <a:off x="3886200" y="1627632"/>
            <a:ext cx="1600200" cy="1463040"/>
          </a:xfrm>
          <a:prstGeom prst="rect">
            <a:avLst/>
          </a:prstGeom>
          <a:noFill/>
        </p:spPr>
        <p:txBody>
          <a:bodyPr wrap="square" anchor="t" lIns="0" rIns="0" tIns="0" bIns="0">
            <a:spAutoFit/>
          </a:bodyPr>
          <a:lstStyle/>
          <a:p>
            <a:pPr algn="l">
              <a:lnSpc>
                <a:spcPct val="125000"/>
              </a:lnSpc>
            </a:pPr>
            <a:r>
              <a:rPr sz="750" b="0">
                <a:solidFill>
                  <a:srgbClr val="5B6775"/>
                </a:solidFill>
                <a:latin typeface="Consolas"/>
              </a:rPr>
              <a:t>45° pitch · 0.6 rad</a:t>
            </a:r>
          </a:p>
          <a:p>
            <a:pPr algn="l">
              <a:lnSpc>
                <a:spcPct val="125000"/>
              </a:lnSpc>
            </a:pPr>
            <a:r>
              <a:rPr sz="750" b="0">
                <a:solidFill>
                  <a:srgbClr val="5B6775"/>
                </a:solidFill>
                <a:latin typeface="Consolas"/>
              </a:rPr>
              <a:t>640×384 @ 5 Hz</a:t>
            </a:r>
          </a:p>
          <a:p>
            <a:pPr algn="l">
              <a:lnSpc>
                <a:spcPct val="125000"/>
              </a:lnSpc>
            </a:pPr>
            <a:r>
              <a:rPr sz="750" b="0">
                <a:solidFill>
                  <a:srgbClr val="5B6775"/>
                </a:solidFill>
                <a:latin typeface="Consolas"/>
              </a:rPr>
              <a:t/>
            </a:r>
          </a:p>
          <a:p>
            <a:pPr algn="l">
              <a:lnSpc>
                <a:spcPct val="125000"/>
              </a:lnSpc>
            </a:pPr>
            <a:r>
              <a:rPr sz="750" b="0">
                <a:solidFill>
                  <a:srgbClr val="5B6775"/>
                </a:solidFill>
                <a:latin typeface="Consolas"/>
              </a:rPr>
              <a:t>band = 0.687h</a:t>
            </a:r>
          </a:p>
          <a:p>
            <a:pPr algn="l">
              <a:lnSpc>
                <a:spcPct val="125000"/>
              </a:lnSpc>
            </a:pPr>
            <a:r>
              <a:rPr sz="750" b="0">
                <a:solidFill>
                  <a:srgbClr val="5B6775"/>
                </a:solidFill>
                <a:latin typeface="Consolas"/>
              </a:rPr>
              <a:t>       … 1.453h</a:t>
            </a:r>
          </a:p>
        </p:txBody>
      </p:sp>
      <p:sp>
        <p:nvSpPr>
          <p:cNvPr id="24" name="TextBox 23"/>
          <p:cNvSpPr txBox="1"/>
          <p:nvPr/>
        </p:nvSpPr>
        <p:spPr>
          <a:xfrm>
            <a:off x="594360" y="3712464"/>
            <a:ext cx="4892040" cy="182880"/>
          </a:xfrm>
          <a:prstGeom prst="rect">
            <a:avLst/>
          </a:prstGeom>
          <a:noFill/>
        </p:spPr>
        <p:txBody>
          <a:bodyPr wrap="square" anchor="t" lIns="0" rIns="0" tIns="0" bIns="0">
            <a:spAutoFit/>
          </a:bodyPr>
          <a:lstStyle/>
          <a:p>
            <a:pPr algn="l">
              <a:lnSpc>
                <a:spcPct val="100000"/>
              </a:lnSpc>
            </a:pPr>
            <a:r>
              <a:rPr sz="750" b="0">
                <a:solidFill>
                  <a:srgbClr val="8A94A1"/>
                </a:solidFill>
                <a:latin typeface="Consolas"/>
              </a:rPr>
              <a:t>GSD &amp; pixel-height derivation → parameters 1 and 3, right</a:t>
            </a:r>
          </a:p>
        </p:txBody>
      </p:sp>
      <p:sp>
        <p:nvSpPr>
          <p:cNvPr id="25" name="TextBox 24"/>
          <p:cNvSpPr txBox="1"/>
          <p:nvPr/>
        </p:nvSpPr>
        <p:spPr>
          <a:xfrm>
            <a:off x="5760720" y="1481328"/>
            <a:ext cx="5925312" cy="182880"/>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DETECTION SENSITIVITY PARAMETERS</a:t>
            </a:r>
          </a:p>
        </p:txBody>
      </p:sp>
      <p:sp>
        <p:nvSpPr>
          <p:cNvPr id="26" name="TextBox 25"/>
          <p:cNvSpPr txBox="1"/>
          <p:nvPr/>
        </p:nvSpPr>
        <p:spPr>
          <a:xfrm>
            <a:off x="5760720" y="17556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1  Ground Sampling Distance (GSD)</a:t>
            </a:r>
          </a:p>
        </p:txBody>
      </p:sp>
      <p:sp>
        <p:nvSpPr>
          <p:cNvPr id="27" name="TextBox 26"/>
          <p:cNvSpPr txBox="1"/>
          <p:nvPr/>
        </p:nvSpPr>
        <p:spPr>
          <a:xfrm>
            <a:off x="5760720" y="19156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GSD = 2h*tan(HFOV/2)/W  =  2.9 cm/px @ 30 m (nadir-equiv)</a:t>
            </a:r>
          </a:p>
        </p:txBody>
      </p:sp>
      <p:sp>
        <p:nvSpPr>
          <p:cNvPr id="28" name="Rectangle 27"/>
          <p:cNvSpPr/>
          <p:nvPr/>
        </p:nvSpPr>
        <p:spPr>
          <a:xfrm>
            <a:off x="5760720" y="2066543"/>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20985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2  Camera resolution</a:t>
            </a:r>
          </a:p>
        </p:txBody>
      </p:sp>
      <p:sp>
        <p:nvSpPr>
          <p:cNvPr id="30" name="TextBox 29"/>
          <p:cNvSpPr txBox="1"/>
          <p:nvPr/>
        </p:nvSpPr>
        <p:spPr>
          <a:xfrm>
            <a:off x="5760720" y="22585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640x384 px, frozen by the OpenVINO export shape</a:t>
            </a:r>
          </a:p>
        </p:txBody>
      </p:sp>
      <p:sp>
        <p:nvSpPr>
          <p:cNvPr id="31" name="Rectangle 30"/>
          <p:cNvSpPr/>
          <p:nvPr/>
        </p:nvSpPr>
        <p:spPr>
          <a:xfrm>
            <a:off x="5760720" y="24094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0720" y="24414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3  Person height in pixels</a:t>
            </a:r>
          </a:p>
        </p:txBody>
      </p:sp>
      <p:sp>
        <p:nvSpPr>
          <p:cNvPr id="33" name="TextBox 32"/>
          <p:cNvSpPr txBox="1"/>
          <p:nvPr/>
        </p:nvSpPr>
        <p:spPr>
          <a:xfrm>
            <a:off x="5760720" y="26014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px = 889 / altitude(m)  -&gt;  30 px @ 30 m, 45 px @ 20 m</a:t>
            </a:r>
          </a:p>
        </p:txBody>
      </p:sp>
      <p:sp>
        <p:nvSpPr>
          <p:cNvPr id="34" name="Rectangle 33"/>
          <p:cNvSpPr/>
          <p:nvPr/>
        </p:nvSpPr>
        <p:spPr>
          <a:xfrm>
            <a:off x="5760720" y="27523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60720" y="27843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4  Altitude</a:t>
            </a:r>
          </a:p>
        </p:txBody>
      </p:sp>
      <p:sp>
        <p:nvSpPr>
          <p:cNvPr id="36" name="TextBox 35"/>
          <p:cNvSpPr txBox="1"/>
          <p:nvPr/>
        </p:nvSpPr>
        <p:spPr>
          <a:xfrm>
            <a:off x="5760720" y="29443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drives GSD &amp; pixel height directly; reliable window ~15-25 m</a:t>
            </a:r>
          </a:p>
        </p:txBody>
      </p:sp>
      <p:sp>
        <p:nvSpPr>
          <p:cNvPr id="37" name="Rectangle 36"/>
          <p:cNvSpPr/>
          <p:nvPr/>
        </p:nvSpPr>
        <p:spPr>
          <a:xfrm>
            <a:off x="5760720" y="30952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0" y="31272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5  Flight speed -&gt; motion blur</a:t>
            </a:r>
          </a:p>
        </p:txBody>
      </p:sp>
      <p:sp>
        <p:nvSpPr>
          <p:cNvPr id="39" name="TextBox 38"/>
          <p:cNvSpPr txBox="1"/>
          <p:nvPr/>
        </p:nvSpPr>
        <p:spPr>
          <a:xfrm>
            <a:off x="5760720" y="32872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blur(px) = v x t_exposure / GSD -- not modeled by Gazebo's camera</a:t>
            </a:r>
          </a:p>
        </p:txBody>
      </p:sp>
      <p:sp>
        <p:nvSpPr>
          <p:cNvPr id="40" name="Rectangle 39"/>
          <p:cNvSpPr/>
          <p:nvPr/>
        </p:nvSpPr>
        <p:spPr>
          <a:xfrm>
            <a:off x="5760720" y="34381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60720" y="34701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6  Gimbal pitch</a:t>
            </a:r>
          </a:p>
        </p:txBody>
      </p:sp>
      <p:sp>
        <p:nvSpPr>
          <p:cNvPr id="42" name="TextBox 41"/>
          <p:cNvSpPr txBox="1"/>
          <p:nvPr/>
        </p:nvSpPr>
        <p:spPr>
          <a:xfrm>
            <a:off x="5760720" y="36301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pixel height peaks at 45 deg; steeper widens the COCO-&gt;aerial gap</a:t>
            </a:r>
          </a:p>
        </p:txBody>
      </p:sp>
      <p:sp>
        <p:nvSpPr>
          <p:cNvPr id="43" name="Rectangle 42"/>
          <p:cNvSpPr/>
          <p:nvPr/>
        </p:nvSpPr>
        <p:spPr>
          <a:xfrm>
            <a:off x="5760720" y="37810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60720" y="38130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7  Inference backend (measured)</a:t>
            </a:r>
          </a:p>
        </p:txBody>
      </p:sp>
      <p:sp>
        <p:nvSpPr>
          <p:cNvPr id="45" name="TextBox 44"/>
          <p:cNvSpPr txBox="1"/>
          <p:nvPr/>
        </p:nvSpPr>
        <p:spPr>
          <a:xfrm>
            <a:off x="5760720" y="39730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OpenVINO 236 ms &lt; NCNN 270 &lt; MNN 342 &lt; PyTorch 1,027 (PI_SETUP.md)</a:t>
            </a:r>
          </a:p>
        </p:txBody>
      </p:sp>
      <p:sp>
        <p:nvSpPr>
          <p:cNvPr id="46" name="Rectangle 45"/>
          <p:cNvSpPr/>
          <p:nvPr/>
        </p:nvSpPr>
        <p:spPr>
          <a:xfrm>
            <a:off x="5760720" y="41239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60720" y="4155948"/>
            <a:ext cx="5925312" cy="155448"/>
          </a:xfrm>
          <a:prstGeom prst="rect">
            <a:avLst/>
          </a:prstGeom>
          <a:noFill/>
        </p:spPr>
        <p:txBody>
          <a:bodyPr wrap="square" anchor="t" lIns="0" rIns="0" tIns="0" bIns="0">
            <a:spAutoFit/>
          </a:bodyPr>
          <a:lstStyle/>
          <a:p>
            <a:pPr algn="l">
              <a:lnSpc>
                <a:spcPct val="100000"/>
              </a:lnSpc>
            </a:pPr>
            <a:r>
              <a:rPr sz="850" b="1">
                <a:solidFill>
                  <a:srgbClr val="141C26"/>
                </a:solidFill>
                <a:latin typeface="Calibri"/>
              </a:rPr>
              <a:t>8  Confidence vs IoU</a:t>
            </a:r>
          </a:p>
        </p:txBody>
      </p:sp>
      <p:sp>
        <p:nvSpPr>
          <p:cNvPr id="48" name="TextBox 47"/>
          <p:cNvSpPr txBox="1"/>
          <p:nvPr/>
        </p:nvSpPr>
        <p:spPr>
          <a:xfrm>
            <a:off x="5760720" y="4315968"/>
            <a:ext cx="5925312" cy="146304"/>
          </a:xfrm>
          <a:prstGeom prst="rect">
            <a:avLst/>
          </a:prstGeom>
          <a:noFill/>
        </p:spPr>
        <p:txBody>
          <a:bodyPr wrap="square" anchor="t" lIns="0" rIns="0" tIns="0" bIns="0">
            <a:spAutoFit/>
          </a:bodyPr>
          <a:lstStyle/>
          <a:p>
            <a:pPr algn="l">
              <a:lnSpc>
                <a:spcPct val="100000"/>
              </a:lnSpc>
            </a:pPr>
            <a:r>
              <a:rPr sz="800" b="0">
                <a:solidFill>
                  <a:srgbClr val="5B6775"/>
                </a:solidFill>
                <a:latin typeface="Consolas"/>
              </a:rPr>
              <a:t>conf 0.40 explicit  vs  IoU 0.70 (NMS default) -- different filters</a:t>
            </a:r>
          </a:p>
        </p:txBody>
      </p:sp>
      <p:sp>
        <p:nvSpPr>
          <p:cNvPr id="49" name="Rectangle 48"/>
          <p:cNvSpPr/>
          <p:nvPr/>
        </p:nvSpPr>
        <p:spPr>
          <a:xfrm>
            <a:off x="5760720" y="4466844"/>
            <a:ext cx="5925312" cy="7315"/>
          </a:xfrm>
          <a:prstGeom prst="rect">
            <a:avLst/>
          </a:prstGeom>
          <a:solidFill>
            <a:srgbClr val="D3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4626864"/>
            <a:ext cx="5394960" cy="182880"/>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WHAT THIS MEANS FOR THIS DEPLOYMENT</a:t>
            </a:r>
          </a:p>
        </p:txBody>
      </p:sp>
      <p:sp>
        <p:nvSpPr>
          <p:cNvPr id="51" name="TextBox 50"/>
          <p:cNvSpPr txBox="1"/>
          <p:nvPr/>
        </p:nvSpPr>
        <p:spPr>
          <a:xfrm>
            <a:off x="502920" y="4846320"/>
            <a:ext cx="5394960" cy="1417320"/>
          </a:xfrm>
          <a:prstGeom prst="rect">
            <a:avLst/>
          </a:prstGeom>
          <a:noFill/>
        </p:spPr>
        <p:txBody>
          <a:bodyPr wrap="square" anchor="t" lIns="0" rIns="0" tIns="0" bIns="0">
            <a:spAutoFit/>
          </a:bodyPr>
          <a:lstStyle/>
          <a:p>
            <a:pPr algn="l">
              <a:lnSpc>
                <a:spcPct val="116000"/>
              </a:lnSpc>
            </a:pPr>
            <a:r>
              <a:rPr sz="950" b="0">
                <a:solidFill>
                  <a:srgbClr val="5B6775"/>
                </a:solidFill>
                <a:latin typeface="Calibri"/>
              </a:rPr>
              <a:t>Frames are dropped by design: BEST_EFFORT, KEEP_LAST, depth 1 means the detector always works the newest frame instead of a queue, so discarded frames were never processable anyway. Geometry, not the model, sets the ceiling — camera resolution is frozen at the export shape, so a person's pixel height is fixed by altitude and pitch alone once conf and IoU are set.</a:t>
            </a:r>
          </a:p>
        </p:txBody>
      </p:sp>
      <p:sp>
        <p:nvSpPr>
          <p:cNvPr id="52" name="TextBox 51"/>
          <p:cNvSpPr txBox="1"/>
          <p:nvPr/>
        </p:nvSpPr>
        <p:spPr>
          <a:xfrm>
            <a:off x="6263640" y="4626864"/>
            <a:ext cx="5394960" cy="182880"/>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MEASURED CONSEQUENCE</a:t>
            </a:r>
          </a:p>
        </p:txBody>
      </p:sp>
      <p:sp>
        <p:nvSpPr>
          <p:cNvPr id="53" name="TextBox 52"/>
          <p:cNvSpPr txBox="1"/>
          <p:nvPr/>
        </p:nvSpPr>
        <p:spPr>
          <a:xfrm>
            <a:off x="6263640" y="4846320"/>
            <a:ext cx="5394960" cy="1417320"/>
          </a:xfrm>
          <a:prstGeom prst="rect">
            <a:avLst/>
          </a:prstGeom>
          <a:noFill/>
        </p:spPr>
        <p:txBody>
          <a:bodyPr wrap="square" anchor="t" lIns="0" rIns="0" tIns="0" bIns="0">
            <a:spAutoFit/>
          </a:bodyPr>
          <a:lstStyle/>
          <a:p>
            <a:pPr algn="l">
              <a:lnSpc>
                <a:spcPct val="116000"/>
              </a:lnSpc>
            </a:pPr>
            <a:r>
              <a:rPr sz="950" b="0">
                <a:solidFill>
                  <a:srgbClr val="5B6775"/>
                </a:solidFill>
                <a:latin typeface="Calibri"/>
              </a:rPr>
              <a:t>UAV1 held station near a static group: 50 of 357 frames detected a person (14.0 %).</a:t>
            </a:r>
          </a:p>
          <a:p>
            <a:pPr algn="l">
              <a:lnSpc>
                <a:spcPct val="116000"/>
              </a:lnSpc>
            </a:pPr>
            <a:r>
              <a:rPr sz="400" b="0">
                <a:solidFill>
                  <a:srgbClr val="5B6775"/>
                </a:solidFill>
                <a:latin typeface="Calibri"/>
              </a:rPr>
              <a:t/>
            </a:r>
          </a:p>
          <a:p>
            <a:pPr algn="l">
              <a:lnSpc>
                <a:spcPct val="116000"/>
              </a:lnSpc>
            </a:pPr>
            <a:r>
              <a:rPr sz="950" b="0">
                <a:solidFill>
                  <a:srgbClr val="5B6775"/>
                </a:solidFill>
                <a:latin typeface="Calibri"/>
              </a:rPr>
              <a:t>UAV2 overflew the walking subject at the same altitude and settings: 8 of 523 (1.5 %).</a:t>
            </a:r>
          </a:p>
          <a:p>
            <a:pPr algn="l">
              <a:lnSpc>
                <a:spcPct val="116000"/>
              </a:lnSpc>
            </a:pPr>
            <a:r>
              <a:rPr sz="400" b="0">
                <a:solidFill>
                  <a:srgbClr val="5B6775"/>
                </a:solidFill>
                <a:latin typeface="Calibri"/>
              </a:rPr>
              <a:t/>
            </a:r>
          </a:p>
          <a:p>
            <a:pPr algn="l">
              <a:lnSpc>
                <a:spcPct val="116000"/>
              </a:lnSpc>
            </a:pPr>
            <a:r>
              <a:rPr sz="950" b="0">
                <a:solidFill>
                  <a:srgbClr val="141C26"/>
                </a:solidFill>
                <a:latin typeface="Calibri"/>
              </a:rPr>
              <a:t>Same model, same conf/IoU, same boards. The gap is dwell time on target — exactly what parameters 3-6 above predict.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384048" cy="274320"/>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29768"/>
            <a:ext cx="384048" cy="228600"/>
          </a:xfrm>
          <a:prstGeom prst="rect">
            <a:avLst/>
          </a:prstGeom>
          <a:noFill/>
        </p:spPr>
        <p:txBody>
          <a:bodyPr wrap="square" anchor="t" lIns="0" rIns="0" tIns="0" bIns="0">
            <a:spAutoFit/>
          </a:bodyPr>
          <a:lstStyle/>
          <a:p>
            <a:pPr algn="ctr">
              <a:lnSpc>
                <a:spcPct val="100000"/>
              </a:lnSpc>
            </a:pPr>
            <a:r>
              <a:rPr sz="1100" b="1">
                <a:solidFill>
                  <a:srgbClr val="FFFFFF"/>
                </a:solidFill>
                <a:latin typeface="Consolas"/>
              </a:rPr>
              <a:t>03</a:t>
            </a:r>
          </a:p>
        </p:txBody>
      </p:sp>
      <p:sp>
        <p:nvSpPr>
          <p:cNvPr id="4" name="TextBox 3"/>
          <p:cNvSpPr txBox="1"/>
          <p:nvPr/>
        </p:nvSpPr>
        <p:spPr>
          <a:xfrm>
            <a:off x="1024128" y="301752"/>
            <a:ext cx="8046720" cy="502920"/>
          </a:xfrm>
          <a:prstGeom prst="rect">
            <a:avLst/>
          </a:prstGeom>
          <a:noFill/>
        </p:spPr>
        <p:txBody>
          <a:bodyPr wrap="square" anchor="t" lIns="0" rIns="0" tIns="0" bIns="0">
            <a:spAutoFit/>
          </a:bodyPr>
          <a:lstStyle/>
          <a:p>
            <a:pPr algn="l">
              <a:lnSpc>
                <a:spcPct val="92000"/>
              </a:lnSpc>
            </a:pPr>
            <a:r>
              <a:rPr sz="2300" b="1">
                <a:solidFill>
                  <a:srgbClr val="141C26"/>
                </a:solidFill>
                <a:latin typeface="Calibri"/>
              </a:rPr>
              <a:t>Output, and how it was validated</a:t>
            </a:r>
          </a:p>
        </p:txBody>
      </p:sp>
      <p:sp>
        <p:nvSpPr>
          <p:cNvPr id="5" name="TextBox 4"/>
          <p:cNvSpPr txBox="1"/>
          <p:nvPr/>
        </p:nvSpPr>
        <p:spPr>
          <a:xfrm>
            <a:off x="9235440" y="429768"/>
            <a:ext cx="2468880" cy="274320"/>
          </a:xfrm>
          <a:prstGeom prst="rect">
            <a:avLst/>
          </a:prstGeom>
          <a:noFill/>
        </p:spPr>
        <p:txBody>
          <a:bodyPr wrap="square" anchor="t" lIns="0" rIns="0" tIns="0" bIns="0">
            <a:spAutoFit/>
          </a:bodyPr>
          <a:lstStyle/>
          <a:p>
            <a:pPr algn="r">
              <a:lnSpc>
                <a:spcPct val="100000"/>
              </a:lnSpc>
            </a:pPr>
            <a:r>
              <a:rPr sz="1000" b="0">
                <a:solidFill>
                  <a:srgbClr val="8A94A1"/>
                </a:solidFill>
                <a:latin typeface="Consolas"/>
              </a:rPr>
              <a:t>OUTPUT &amp; VALIDATION</a:t>
            </a:r>
          </a:p>
        </p:txBody>
      </p:sp>
      <p:sp>
        <p:nvSpPr>
          <p:cNvPr id="6" name="Rectangle 5"/>
          <p:cNvSpPr/>
          <p:nvPr/>
        </p:nvSpPr>
        <p:spPr>
          <a:xfrm>
            <a:off x="502920" y="868680"/>
            <a:ext cx="11173968" cy="20116"/>
          </a:xfrm>
          <a:prstGeom prst="rect">
            <a:avLst/>
          </a:prstGeom>
          <a:solidFill>
            <a:srgbClr val="141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24128"/>
            <a:ext cx="11155680" cy="365760"/>
          </a:xfrm>
          <a:prstGeom prst="rect">
            <a:avLst/>
          </a:prstGeom>
          <a:noFill/>
        </p:spPr>
        <p:txBody>
          <a:bodyPr wrap="square" anchor="t" lIns="0" rIns="0" tIns="0" bIns="0">
            <a:spAutoFit/>
          </a:bodyPr>
          <a:lstStyle/>
          <a:p>
            <a:pPr algn="l">
              <a:lnSpc>
                <a:spcPct val="115000"/>
              </a:lnSpc>
            </a:pPr>
            <a:r>
              <a:rPr sz="1250" b="0">
                <a:solidFill>
                  <a:srgbClr val="5B6775"/>
                </a:solidFill>
                <a:latin typeface="Calibri"/>
              </a:rPr>
              <a:t>One instrumented mission, both boards. Every figure below is read from the run's own logs by scripts/summarise_run.sh — no hand-copied numbers.</a:t>
            </a:r>
          </a:p>
        </p:txBody>
      </p:sp>
      <p:sp>
        <p:nvSpPr>
          <p:cNvPr id="8" name="Rectangle 7"/>
          <p:cNvSpPr/>
          <p:nvPr/>
        </p:nvSpPr>
        <p:spPr>
          <a:xfrm>
            <a:off x="502920" y="1481328"/>
            <a:ext cx="2697480" cy="1188720"/>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9224" y="1591056"/>
            <a:ext cx="2468880" cy="365760"/>
          </a:xfrm>
          <a:prstGeom prst="rect">
            <a:avLst/>
          </a:prstGeom>
          <a:noFill/>
        </p:spPr>
        <p:txBody>
          <a:bodyPr wrap="square" anchor="t" lIns="0" rIns="0" tIns="0" bIns="0">
            <a:spAutoFit/>
          </a:bodyPr>
          <a:lstStyle/>
          <a:p>
            <a:pPr algn="l">
              <a:lnSpc>
                <a:spcPct val="100000"/>
              </a:lnSpc>
            </a:pPr>
            <a:r>
              <a:rPr sz="2000" b="1">
                <a:solidFill>
                  <a:srgbClr val="1E6B45"/>
                </a:solidFill>
                <a:latin typeface="Consolas"/>
              </a:rPr>
              <a:t>96 % / 96 %</a:t>
            </a:r>
          </a:p>
        </p:txBody>
      </p:sp>
      <p:sp>
        <p:nvSpPr>
          <p:cNvPr id="10" name="TextBox 9"/>
          <p:cNvSpPr txBox="1"/>
          <p:nvPr/>
        </p:nvSpPr>
        <p:spPr>
          <a:xfrm>
            <a:off x="649224" y="1975104"/>
            <a:ext cx="2468880" cy="182880"/>
          </a:xfrm>
          <a:prstGeom prst="rect">
            <a:avLst/>
          </a:prstGeom>
          <a:noFill/>
        </p:spPr>
        <p:txBody>
          <a:bodyPr wrap="square" anchor="t" lIns="0" rIns="0" tIns="0" bIns="0">
            <a:spAutoFit/>
          </a:bodyPr>
          <a:lstStyle/>
          <a:p>
            <a:pPr algn="l">
              <a:lnSpc>
                <a:spcPct val="100000"/>
              </a:lnSpc>
            </a:pPr>
            <a:r>
              <a:rPr sz="850" b="1">
                <a:solidFill>
                  <a:srgbClr val="8A94A1"/>
                </a:solidFill>
                <a:latin typeface="Consolas"/>
              </a:rPr>
              <a:t>OF COMPUTE CEILING</a:t>
            </a:r>
          </a:p>
        </p:txBody>
      </p:sp>
      <p:sp>
        <p:nvSpPr>
          <p:cNvPr id="11" name="TextBox 10"/>
          <p:cNvSpPr txBox="1"/>
          <p:nvPr/>
        </p:nvSpPr>
        <p:spPr>
          <a:xfrm>
            <a:off x="649224" y="2194560"/>
            <a:ext cx="2468880" cy="438912"/>
          </a:xfrm>
          <a:prstGeom prst="rect">
            <a:avLst/>
          </a:prstGeom>
          <a:noFill/>
        </p:spPr>
        <p:txBody>
          <a:bodyPr wrap="square" anchor="t" lIns="0" rIns="0" tIns="0" bIns="0">
            <a:spAutoFit/>
          </a:bodyPr>
          <a:lstStyle/>
          <a:p>
            <a:pPr algn="l">
              <a:lnSpc>
                <a:spcPct val="112000"/>
              </a:lnSpc>
            </a:pPr>
            <a:r>
              <a:rPr sz="850" b="0">
                <a:solidFill>
                  <a:srgbClr val="5B6775"/>
                </a:solidFill>
                <a:latin typeface="Calibri"/>
              </a:rPr>
              <a:t>2.85 and 4.01 fps against limits of 2.97 and 4.17</a:t>
            </a:r>
          </a:p>
        </p:txBody>
      </p:sp>
      <p:sp>
        <p:nvSpPr>
          <p:cNvPr id="12" name="Rectangle 11"/>
          <p:cNvSpPr/>
          <p:nvPr/>
        </p:nvSpPr>
        <p:spPr>
          <a:xfrm>
            <a:off x="3328415" y="1481328"/>
            <a:ext cx="2697480" cy="1188720"/>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74720" y="1591056"/>
            <a:ext cx="2468880" cy="365760"/>
          </a:xfrm>
          <a:prstGeom prst="rect">
            <a:avLst/>
          </a:prstGeom>
          <a:noFill/>
        </p:spPr>
        <p:txBody>
          <a:bodyPr wrap="square" anchor="t" lIns="0" rIns="0" tIns="0" bIns="0">
            <a:spAutoFit/>
          </a:bodyPr>
          <a:lstStyle/>
          <a:p>
            <a:pPr algn="l">
              <a:lnSpc>
                <a:spcPct val="100000"/>
              </a:lnSpc>
            </a:pPr>
            <a:r>
              <a:rPr sz="2000" b="1">
                <a:solidFill>
                  <a:srgbClr val="141C26"/>
                </a:solidFill>
                <a:latin typeface="Consolas"/>
              </a:rPr>
              <a:t>337 / 240 ms</a:t>
            </a:r>
          </a:p>
        </p:txBody>
      </p:sp>
      <p:sp>
        <p:nvSpPr>
          <p:cNvPr id="14" name="TextBox 13"/>
          <p:cNvSpPr txBox="1"/>
          <p:nvPr/>
        </p:nvSpPr>
        <p:spPr>
          <a:xfrm>
            <a:off x="3474720" y="1975104"/>
            <a:ext cx="2468880" cy="182880"/>
          </a:xfrm>
          <a:prstGeom prst="rect">
            <a:avLst/>
          </a:prstGeom>
          <a:noFill/>
        </p:spPr>
        <p:txBody>
          <a:bodyPr wrap="square" anchor="t" lIns="0" rIns="0" tIns="0" bIns="0">
            <a:spAutoFit/>
          </a:bodyPr>
          <a:lstStyle/>
          <a:p>
            <a:pPr algn="l">
              <a:lnSpc>
                <a:spcPct val="100000"/>
              </a:lnSpc>
            </a:pPr>
            <a:r>
              <a:rPr sz="850" b="1">
                <a:solidFill>
                  <a:srgbClr val="8A94A1"/>
                </a:solidFill>
                <a:latin typeface="Consolas"/>
              </a:rPr>
              <a:t>MEAN INFERENCE</a:t>
            </a:r>
          </a:p>
        </p:txBody>
      </p:sp>
      <p:sp>
        <p:nvSpPr>
          <p:cNvPr id="15" name="TextBox 14"/>
          <p:cNvSpPr txBox="1"/>
          <p:nvPr/>
        </p:nvSpPr>
        <p:spPr>
          <a:xfrm>
            <a:off x="3474720" y="2194560"/>
            <a:ext cx="2468880" cy="438912"/>
          </a:xfrm>
          <a:prstGeom prst="rect">
            <a:avLst/>
          </a:prstGeom>
          <a:noFill/>
        </p:spPr>
        <p:txBody>
          <a:bodyPr wrap="square" anchor="t" lIns="0" rIns="0" tIns="0" bIns="0">
            <a:spAutoFit/>
          </a:bodyPr>
          <a:lstStyle/>
          <a:p>
            <a:pPr algn="l">
              <a:lnSpc>
                <a:spcPct val="112000"/>
              </a:lnSpc>
            </a:pPr>
            <a:r>
              <a:rPr sz="850" b="0">
                <a:solidFill>
                  <a:srgbClr val="5B6775"/>
                </a:solidFill>
                <a:latin typeface="Calibri"/>
              </a:rPr>
              <a:t>board 1 ranged 244–797, board 2 213–485</a:t>
            </a:r>
          </a:p>
        </p:txBody>
      </p:sp>
      <p:sp>
        <p:nvSpPr>
          <p:cNvPr id="16" name="Rectangle 15"/>
          <p:cNvSpPr/>
          <p:nvPr/>
        </p:nvSpPr>
        <p:spPr>
          <a:xfrm>
            <a:off x="6153912" y="1481328"/>
            <a:ext cx="2697480" cy="1188720"/>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00216" y="1591056"/>
            <a:ext cx="2468880" cy="365760"/>
          </a:xfrm>
          <a:prstGeom prst="rect">
            <a:avLst/>
          </a:prstGeom>
          <a:noFill/>
        </p:spPr>
        <p:txBody>
          <a:bodyPr wrap="square" anchor="t" lIns="0" rIns="0" tIns="0" bIns="0">
            <a:spAutoFit/>
          </a:bodyPr>
          <a:lstStyle/>
          <a:p>
            <a:pPr algn="l">
              <a:lnSpc>
                <a:spcPct val="100000"/>
              </a:lnSpc>
            </a:pPr>
            <a:r>
              <a:rPr sz="2000" b="1">
                <a:solidFill>
                  <a:srgbClr val="141C26"/>
                </a:solidFill>
                <a:latin typeface="Consolas"/>
              </a:rPr>
              <a:t>97.2 % / 87.0 %</a:t>
            </a:r>
          </a:p>
        </p:txBody>
      </p:sp>
      <p:sp>
        <p:nvSpPr>
          <p:cNvPr id="18" name="TextBox 17"/>
          <p:cNvSpPr txBox="1"/>
          <p:nvPr/>
        </p:nvSpPr>
        <p:spPr>
          <a:xfrm>
            <a:off x="6300216" y="1975104"/>
            <a:ext cx="2468880" cy="182880"/>
          </a:xfrm>
          <a:prstGeom prst="rect">
            <a:avLst/>
          </a:prstGeom>
          <a:noFill/>
        </p:spPr>
        <p:txBody>
          <a:bodyPr wrap="square" anchor="t" lIns="0" rIns="0" tIns="0" bIns="0">
            <a:spAutoFit/>
          </a:bodyPr>
          <a:lstStyle/>
          <a:p>
            <a:pPr algn="l">
              <a:lnSpc>
                <a:spcPct val="100000"/>
              </a:lnSpc>
            </a:pPr>
            <a:r>
              <a:rPr sz="850" b="1">
                <a:solidFill>
                  <a:srgbClr val="8A94A1"/>
                </a:solidFill>
                <a:latin typeface="Consolas"/>
              </a:rPr>
              <a:t>DELIVERED ACROSS ns-3</a:t>
            </a:r>
          </a:p>
        </p:txBody>
      </p:sp>
      <p:sp>
        <p:nvSpPr>
          <p:cNvPr id="19" name="TextBox 18"/>
          <p:cNvSpPr txBox="1"/>
          <p:nvPr/>
        </p:nvSpPr>
        <p:spPr>
          <a:xfrm>
            <a:off x="6300216" y="2194560"/>
            <a:ext cx="2468880" cy="438912"/>
          </a:xfrm>
          <a:prstGeom prst="rect">
            <a:avLst/>
          </a:prstGeom>
          <a:noFill/>
        </p:spPr>
        <p:txBody>
          <a:bodyPr wrap="square" anchor="t" lIns="0" rIns="0" tIns="0" bIns="0">
            <a:spAutoFit/>
          </a:bodyPr>
          <a:lstStyle/>
          <a:p>
            <a:pPr algn="l">
              <a:lnSpc>
                <a:spcPct val="112000"/>
              </a:lnSpc>
            </a:pPr>
            <a:r>
              <a:rPr sz="850" b="0">
                <a:solidFill>
                  <a:srgbClr val="5B6775"/>
                </a:solidFill>
                <a:latin typeface="Calibri"/>
              </a:rPr>
              <a:t>347/357 and 455/523 detection messages reached the GCS</a:t>
            </a:r>
          </a:p>
        </p:txBody>
      </p:sp>
      <p:sp>
        <p:nvSpPr>
          <p:cNvPr id="20" name="Rectangle 19"/>
          <p:cNvSpPr/>
          <p:nvPr/>
        </p:nvSpPr>
        <p:spPr>
          <a:xfrm>
            <a:off x="8979408" y="1481328"/>
            <a:ext cx="2697480" cy="1188720"/>
          </a:xfrm>
          <a:prstGeom prst="rect">
            <a:avLst/>
          </a:prstGeom>
          <a:solidFill>
            <a:srgbClr val="FFFFFF"/>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25712" y="1591056"/>
            <a:ext cx="2468880" cy="365760"/>
          </a:xfrm>
          <a:prstGeom prst="rect">
            <a:avLst/>
          </a:prstGeom>
          <a:noFill/>
        </p:spPr>
        <p:txBody>
          <a:bodyPr wrap="square" anchor="t" lIns="0" rIns="0" tIns="0" bIns="0">
            <a:spAutoFit/>
          </a:bodyPr>
          <a:lstStyle/>
          <a:p>
            <a:pPr algn="l">
              <a:lnSpc>
                <a:spcPct val="100000"/>
              </a:lnSpc>
            </a:pPr>
            <a:r>
              <a:rPr sz="2000" b="1">
                <a:solidFill>
                  <a:srgbClr val="141C26"/>
                </a:solidFill>
                <a:latin typeface="Consolas"/>
              </a:rPr>
              <a:t>104 / 76 B</a:t>
            </a:r>
          </a:p>
        </p:txBody>
      </p:sp>
      <p:sp>
        <p:nvSpPr>
          <p:cNvPr id="22" name="TextBox 21"/>
          <p:cNvSpPr txBox="1"/>
          <p:nvPr/>
        </p:nvSpPr>
        <p:spPr>
          <a:xfrm>
            <a:off x="9125712" y="1975104"/>
            <a:ext cx="2468880" cy="182880"/>
          </a:xfrm>
          <a:prstGeom prst="rect">
            <a:avLst/>
          </a:prstGeom>
          <a:noFill/>
        </p:spPr>
        <p:txBody>
          <a:bodyPr wrap="square" anchor="t" lIns="0" rIns="0" tIns="0" bIns="0">
            <a:spAutoFit/>
          </a:bodyPr>
          <a:lstStyle/>
          <a:p>
            <a:pPr algn="l">
              <a:lnSpc>
                <a:spcPct val="100000"/>
              </a:lnSpc>
            </a:pPr>
            <a:r>
              <a:rPr sz="850" b="1">
                <a:solidFill>
                  <a:srgbClr val="8A94A1"/>
                </a:solidFill>
                <a:latin typeface="Consolas"/>
              </a:rPr>
              <a:t>MEAN PAYLOAD</a:t>
            </a:r>
          </a:p>
        </p:txBody>
      </p:sp>
      <p:sp>
        <p:nvSpPr>
          <p:cNvPr id="23" name="TextBox 22"/>
          <p:cNvSpPr txBox="1"/>
          <p:nvPr/>
        </p:nvSpPr>
        <p:spPr>
          <a:xfrm>
            <a:off x="9125712" y="2194560"/>
            <a:ext cx="2468880" cy="438912"/>
          </a:xfrm>
          <a:prstGeom prst="rect">
            <a:avLst/>
          </a:prstGeom>
          <a:noFill/>
        </p:spPr>
        <p:txBody>
          <a:bodyPr wrap="square" anchor="t" lIns="0" rIns="0" tIns="0" bIns="0">
            <a:spAutoFit/>
          </a:bodyPr>
          <a:lstStyle/>
          <a:p>
            <a:pPr algn="l">
              <a:lnSpc>
                <a:spcPct val="112000"/>
              </a:lnSpc>
            </a:pPr>
            <a:r>
              <a:rPr sz="850" b="0">
                <a:solidFill>
                  <a:srgbClr val="5B6775"/>
                </a:solidFill>
                <a:latin typeface="Calibri"/>
              </a:rPr>
              <a:t>73 B empty result, up to 504 B with several people</a:t>
            </a:r>
          </a:p>
        </p:txBody>
      </p:sp>
      <p:sp>
        <p:nvSpPr>
          <p:cNvPr id="24" name="TextBox 23"/>
          <p:cNvSpPr txBox="1"/>
          <p:nvPr/>
        </p:nvSpPr>
        <p:spPr>
          <a:xfrm>
            <a:off x="502920" y="2816352"/>
            <a:ext cx="548640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HOW A RUN IS VALIDATED</a:t>
            </a:r>
          </a:p>
        </p:txBody>
      </p:sp>
      <p:sp>
        <p:nvSpPr>
          <p:cNvPr id="25" name="Rectangle 24"/>
          <p:cNvSpPr/>
          <p:nvPr/>
        </p:nvSpPr>
        <p:spPr>
          <a:xfrm>
            <a:off x="502920" y="3035808"/>
            <a:ext cx="2697480" cy="960120"/>
          </a:xfrm>
          <a:prstGeom prst="rect">
            <a:avLst/>
          </a:prstGeom>
          <a:solidFill>
            <a:srgbClr val="F4F6F8"/>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0936" y="3127248"/>
            <a:ext cx="2468880" cy="164592"/>
          </a:xfrm>
          <a:prstGeom prst="rect">
            <a:avLst/>
          </a:prstGeom>
          <a:noFill/>
        </p:spPr>
        <p:txBody>
          <a:bodyPr wrap="square" anchor="t" lIns="0" rIns="0" tIns="0" bIns="0">
            <a:spAutoFit/>
          </a:bodyPr>
          <a:lstStyle/>
          <a:p>
            <a:pPr algn="l">
              <a:lnSpc>
                <a:spcPct val="100000"/>
              </a:lnSpc>
            </a:pPr>
            <a:r>
              <a:rPr sz="800" b="1">
                <a:solidFill>
                  <a:srgbClr val="8A94A1"/>
                </a:solidFill>
                <a:latin typeface="Consolas"/>
              </a:rPr>
              <a:t>STEP 0</a:t>
            </a:r>
          </a:p>
        </p:txBody>
      </p:sp>
      <p:sp>
        <p:nvSpPr>
          <p:cNvPr id="27" name="TextBox 26"/>
          <p:cNvSpPr txBox="1"/>
          <p:nvPr/>
        </p:nvSpPr>
        <p:spPr>
          <a:xfrm>
            <a:off x="630936" y="3310128"/>
            <a:ext cx="2468880" cy="182880"/>
          </a:xfrm>
          <a:prstGeom prst="rect">
            <a:avLst/>
          </a:prstGeom>
          <a:noFill/>
        </p:spPr>
        <p:txBody>
          <a:bodyPr wrap="square" anchor="t" lIns="0" rIns="0" tIns="0" bIns="0">
            <a:spAutoFit/>
          </a:bodyPr>
          <a:lstStyle/>
          <a:p>
            <a:pPr algn="l">
              <a:lnSpc>
                <a:spcPct val="100000"/>
              </a:lnSpc>
            </a:pPr>
            <a:r>
              <a:rPr sz="1000" b="1">
                <a:solidFill>
                  <a:srgbClr val="141C26"/>
                </a:solidFill>
                <a:latin typeface="Consolas"/>
              </a:rPr>
              <a:t>rpi_init.sh</a:t>
            </a:r>
          </a:p>
        </p:txBody>
      </p:sp>
      <p:sp>
        <p:nvSpPr>
          <p:cNvPr id="28" name="TextBox 27"/>
          <p:cNvSpPr txBox="1"/>
          <p:nvPr/>
        </p:nvSpPr>
        <p:spPr>
          <a:xfrm>
            <a:off x="630936" y="3529584"/>
            <a:ext cx="2468880" cy="411480"/>
          </a:xfrm>
          <a:prstGeom prst="rect">
            <a:avLst/>
          </a:prstGeom>
          <a:noFill/>
        </p:spPr>
        <p:txBody>
          <a:bodyPr wrap="square" anchor="t" lIns="0" rIns="0" tIns="0" bIns="0">
            <a:spAutoFit/>
          </a:bodyPr>
          <a:lstStyle/>
          <a:p>
            <a:pPr algn="l">
              <a:lnSpc>
                <a:spcPct val="110000"/>
              </a:lnSpc>
            </a:pPr>
            <a:r>
              <a:rPr sz="850" b="0">
                <a:solidFill>
                  <a:srgbClr val="5B6775"/>
                </a:solidFill>
                <a:latin typeface="Calibri"/>
              </a:rPr>
              <a:t>16 checks per board: link, VLAN addressing, RTT, socket buffers, clock skew ≤ 50 ms</a:t>
            </a:r>
          </a:p>
        </p:txBody>
      </p:sp>
      <p:sp>
        <p:nvSpPr>
          <p:cNvPr id="29" name="Rectangle 28"/>
          <p:cNvSpPr/>
          <p:nvPr/>
        </p:nvSpPr>
        <p:spPr>
          <a:xfrm>
            <a:off x="3328415" y="3035808"/>
            <a:ext cx="2697480" cy="960120"/>
          </a:xfrm>
          <a:prstGeom prst="rect">
            <a:avLst/>
          </a:prstGeom>
          <a:solidFill>
            <a:srgbClr val="F4F6F8"/>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456432" y="3127248"/>
            <a:ext cx="2468880" cy="164592"/>
          </a:xfrm>
          <a:prstGeom prst="rect">
            <a:avLst/>
          </a:prstGeom>
          <a:noFill/>
        </p:spPr>
        <p:txBody>
          <a:bodyPr wrap="square" anchor="t" lIns="0" rIns="0" tIns="0" bIns="0">
            <a:spAutoFit/>
          </a:bodyPr>
          <a:lstStyle/>
          <a:p>
            <a:pPr algn="l">
              <a:lnSpc>
                <a:spcPct val="100000"/>
              </a:lnSpc>
            </a:pPr>
            <a:r>
              <a:rPr sz="800" b="1">
                <a:solidFill>
                  <a:srgbClr val="8A94A1"/>
                </a:solidFill>
                <a:latin typeface="Consolas"/>
              </a:rPr>
              <a:t>STEP 1</a:t>
            </a:r>
          </a:p>
        </p:txBody>
      </p:sp>
      <p:sp>
        <p:nvSpPr>
          <p:cNvPr id="31" name="TextBox 30"/>
          <p:cNvSpPr txBox="1"/>
          <p:nvPr/>
        </p:nvSpPr>
        <p:spPr>
          <a:xfrm>
            <a:off x="3456432" y="3310128"/>
            <a:ext cx="2468880" cy="182880"/>
          </a:xfrm>
          <a:prstGeom prst="rect">
            <a:avLst/>
          </a:prstGeom>
          <a:noFill/>
        </p:spPr>
        <p:txBody>
          <a:bodyPr wrap="square" anchor="t" lIns="0" rIns="0" tIns="0" bIns="0">
            <a:spAutoFit/>
          </a:bodyPr>
          <a:lstStyle/>
          <a:p>
            <a:pPr algn="l">
              <a:lnSpc>
                <a:spcPct val="100000"/>
              </a:lnSpc>
            </a:pPr>
            <a:r>
              <a:rPr sz="1000" b="1">
                <a:solidFill>
                  <a:srgbClr val="141C26"/>
                </a:solidFill>
                <a:latin typeface="Consolas"/>
              </a:rPr>
              <a:t>sitl_init.sh</a:t>
            </a:r>
          </a:p>
        </p:txBody>
      </p:sp>
      <p:sp>
        <p:nvSpPr>
          <p:cNvPr id="32" name="TextBox 31"/>
          <p:cNvSpPr txBox="1"/>
          <p:nvPr/>
        </p:nvSpPr>
        <p:spPr>
          <a:xfrm>
            <a:off x="3456432" y="3529584"/>
            <a:ext cx="2468880" cy="411480"/>
          </a:xfrm>
          <a:prstGeom prst="rect">
            <a:avLst/>
          </a:prstGeom>
          <a:noFill/>
        </p:spPr>
        <p:txBody>
          <a:bodyPr wrap="square" anchor="t" lIns="0" rIns="0" tIns="0" bIns="0">
            <a:spAutoFit/>
          </a:bodyPr>
          <a:lstStyle/>
          <a:p>
            <a:pPr algn="l">
              <a:lnSpc>
                <a:spcPct val="110000"/>
              </a:lnSpc>
            </a:pPr>
            <a:r>
              <a:rPr sz="850" b="0">
                <a:solidFill>
                  <a:srgbClr val="5B6775"/>
                </a:solidFill>
                <a:latin typeface="Calibri"/>
              </a:rPr>
              <a:t>Cold-starts netns, ns-3, Gazebo, SITL. Waits for a real navsat message per aircraft</a:t>
            </a:r>
          </a:p>
        </p:txBody>
      </p:sp>
      <p:sp>
        <p:nvSpPr>
          <p:cNvPr id="33" name="Rectangle 32"/>
          <p:cNvSpPr/>
          <p:nvPr/>
        </p:nvSpPr>
        <p:spPr>
          <a:xfrm>
            <a:off x="6153912" y="3035808"/>
            <a:ext cx="2697480" cy="960120"/>
          </a:xfrm>
          <a:prstGeom prst="rect">
            <a:avLst/>
          </a:prstGeom>
          <a:solidFill>
            <a:srgbClr val="F4F6F8"/>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281927" y="3127248"/>
            <a:ext cx="2468880" cy="164592"/>
          </a:xfrm>
          <a:prstGeom prst="rect">
            <a:avLst/>
          </a:prstGeom>
          <a:noFill/>
        </p:spPr>
        <p:txBody>
          <a:bodyPr wrap="square" anchor="t" lIns="0" rIns="0" tIns="0" bIns="0">
            <a:spAutoFit/>
          </a:bodyPr>
          <a:lstStyle/>
          <a:p>
            <a:pPr algn="l">
              <a:lnSpc>
                <a:spcPct val="100000"/>
              </a:lnSpc>
            </a:pPr>
            <a:r>
              <a:rPr sz="800" b="1">
                <a:solidFill>
                  <a:srgbClr val="8A94A1"/>
                </a:solidFill>
                <a:latin typeface="Consolas"/>
              </a:rPr>
              <a:t>STEP 2</a:t>
            </a:r>
          </a:p>
        </p:txBody>
      </p:sp>
      <p:sp>
        <p:nvSpPr>
          <p:cNvPr id="35" name="TextBox 34"/>
          <p:cNvSpPr txBox="1"/>
          <p:nvPr/>
        </p:nvSpPr>
        <p:spPr>
          <a:xfrm>
            <a:off x="6281927" y="3310128"/>
            <a:ext cx="2468880" cy="182880"/>
          </a:xfrm>
          <a:prstGeom prst="rect">
            <a:avLst/>
          </a:prstGeom>
          <a:noFill/>
        </p:spPr>
        <p:txBody>
          <a:bodyPr wrap="square" anchor="t" lIns="0" rIns="0" tIns="0" bIns="0">
            <a:spAutoFit/>
          </a:bodyPr>
          <a:lstStyle/>
          <a:p>
            <a:pPr algn="l">
              <a:lnSpc>
                <a:spcPct val="100000"/>
              </a:lnSpc>
            </a:pPr>
            <a:r>
              <a:rPr sz="1000" b="1">
                <a:solidFill>
                  <a:srgbClr val="141C26"/>
                </a:solidFill>
                <a:latin typeface="Consolas"/>
              </a:rPr>
              <a:t>detector_start.sh</a:t>
            </a:r>
          </a:p>
        </p:txBody>
      </p:sp>
      <p:sp>
        <p:nvSpPr>
          <p:cNvPr id="36" name="TextBox 35"/>
          <p:cNvSpPr txBox="1"/>
          <p:nvPr/>
        </p:nvSpPr>
        <p:spPr>
          <a:xfrm>
            <a:off x="6281927" y="3529584"/>
            <a:ext cx="2468880" cy="411480"/>
          </a:xfrm>
          <a:prstGeom prst="rect">
            <a:avLst/>
          </a:prstGeom>
          <a:noFill/>
        </p:spPr>
        <p:txBody>
          <a:bodyPr wrap="square" anchor="t" lIns="0" rIns="0" tIns="0" bIns="0">
            <a:spAutoFit/>
          </a:bodyPr>
          <a:lstStyle/>
          <a:p>
            <a:pPr algn="l">
              <a:lnSpc>
                <a:spcPct val="110000"/>
              </a:lnSpc>
            </a:pPr>
            <a:r>
              <a:rPr sz="850" b="0">
                <a:solidFill>
                  <a:srgbClr val="5B6775"/>
                </a:solidFill>
                <a:latin typeface="Calibri"/>
              </a:rPr>
              <a:t>Starts both edge detectors, blocks until each reports its model loaded</a:t>
            </a:r>
          </a:p>
        </p:txBody>
      </p:sp>
      <p:sp>
        <p:nvSpPr>
          <p:cNvPr id="37" name="Rectangle 36"/>
          <p:cNvSpPr/>
          <p:nvPr/>
        </p:nvSpPr>
        <p:spPr>
          <a:xfrm>
            <a:off x="8979408" y="3035808"/>
            <a:ext cx="2697480" cy="960120"/>
          </a:xfrm>
          <a:prstGeom prst="rect">
            <a:avLst/>
          </a:prstGeom>
          <a:solidFill>
            <a:srgbClr val="F4F6F8"/>
          </a:solidFill>
          <a:ln w="12700">
            <a:solidFill>
              <a:srgbClr val="D3DA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107424" y="3127248"/>
            <a:ext cx="2468880" cy="164592"/>
          </a:xfrm>
          <a:prstGeom prst="rect">
            <a:avLst/>
          </a:prstGeom>
          <a:noFill/>
        </p:spPr>
        <p:txBody>
          <a:bodyPr wrap="square" anchor="t" lIns="0" rIns="0" tIns="0" bIns="0">
            <a:spAutoFit/>
          </a:bodyPr>
          <a:lstStyle/>
          <a:p>
            <a:pPr algn="l">
              <a:lnSpc>
                <a:spcPct val="100000"/>
              </a:lnSpc>
            </a:pPr>
            <a:r>
              <a:rPr sz="800" b="1">
                <a:solidFill>
                  <a:srgbClr val="8A94A1"/>
                </a:solidFill>
                <a:latin typeface="Consolas"/>
              </a:rPr>
              <a:t>STEP 3</a:t>
            </a:r>
          </a:p>
        </p:txBody>
      </p:sp>
      <p:sp>
        <p:nvSpPr>
          <p:cNvPr id="39" name="TextBox 38"/>
          <p:cNvSpPr txBox="1"/>
          <p:nvPr/>
        </p:nvSpPr>
        <p:spPr>
          <a:xfrm>
            <a:off x="9107424" y="3310128"/>
            <a:ext cx="2468880" cy="182880"/>
          </a:xfrm>
          <a:prstGeom prst="rect">
            <a:avLst/>
          </a:prstGeom>
          <a:noFill/>
        </p:spPr>
        <p:txBody>
          <a:bodyPr wrap="square" anchor="t" lIns="0" rIns="0" tIns="0" bIns="0">
            <a:spAutoFit/>
          </a:bodyPr>
          <a:lstStyle/>
          <a:p>
            <a:pPr algn="l">
              <a:lnSpc>
                <a:spcPct val="100000"/>
              </a:lnSpc>
            </a:pPr>
            <a:r>
              <a:rPr sz="1000" b="1">
                <a:solidFill>
                  <a:srgbClr val="141C26"/>
                </a:solidFill>
                <a:latin typeface="Consolas"/>
              </a:rPr>
              <a:t>run_missions.sh</a:t>
            </a:r>
          </a:p>
        </p:txBody>
      </p:sp>
      <p:sp>
        <p:nvSpPr>
          <p:cNvPr id="40" name="TextBox 39"/>
          <p:cNvSpPr txBox="1"/>
          <p:nvPr/>
        </p:nvSpPr>
        <p:spPr>
          <a:xfrm>
            <a:off x="9107424" y="3529584"/>
            <a:ext cx="2468880" cy="411480"/>
          </a:xfrm>
          <a:prstGeom prst="rect">
            <a:avLst/>
          </a:prstGeom>
          <a:noFill/>
        </p:spPr>
        <p:txBody>
          <a:bodyPr wrap="square" anchor="t" lIns="0" rIns="0" tIns="0" bIns="0">
            <a:spAutoFit/>
          </a:bodyPr>
          <a:lstStyle/>
          <a:p>
            <a:pPr algn="l">
              <a:lnSpc>
                <a:spcPct val="110000"/>
              </a:lnSpc>
            </a:pPr>
            <a:r>
              <a:rPr sz="850" b="0">
                <a:solidFill>
                  <a:srgbClr val="5B6775"/>
                </a:solidFill>
                <a:latin typeface="Calibri"/>
              </a:rPr>
              <a:t>Re-checks every stage before arming, flies, then archives and summarises the run</a:t>
            </a:r>
          </a:p>
        </p:txBody>
      </p:sp>
      <p:sp>
        <p:nvSpPr>
          <p:cNvPr id="41" name="TextBox 40"/>
          <p:cNvSpPr txBox="1"/>
          <p:nvPr/>
        </p:nvSpPr>
        <p:spPr>
          <a:xfrm>
            <a:off x="502920" y="4187952"/>
            <a:ext cx="548640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WHAT THE INSTRUMENTATION REVEALED</a:t>
            </a:r>
          </a:p>
        </p:txBody>
      </p:sp>
      <p:sp>
        <p:nvSpPr>
          <p:cNvPr id="42" name="TextBox 41"/>
          <p:cNvSpPr txBox="1"/>
          <p:nvPr/>
        </p:nvSpPr>
        <p:spPr>
          <a:xfrm>
            <a:off x="502920" y="4425696"/>
            <a:ext cx="5486400" cy="2011680"/>
          </a:xfrm>
          <a:prstGeom prst="rect">
            <a:avLst/>
          </a:prstGeom>
          <a:noFill/>
        </p:spPr>
        <p:txBody>
          <a:bodyPr wrap="square" anchor="t" lIns="0" rIns="0" tIns="0" bIns="0">
            <a:spAutoFit/>
          </a:bodyPr>
          <a:lstStyle/>
          <a:p>
            <a:pPr algn="l">
              <a:lnSpc>
                <a:spcPct val="116000"/>
              </a:lnSpc>
            </a:pPr>
            <a:r>
              <a:rPr sz="1000" b="1">
                <a:solidFill>
                  <a:srgbClr val="B0430B"/>
                </a:solidFill>
                <a:latin typeface="Calibri"/>
              </a:rPr>
              <a:t>Board 1 is power-limited, not heat-limited.</a:t>
            </a:r>
          </a:p>
          <a:p>
            <a:pPr algn="l">
              <a:lnSpc>
                <a:spcPct val="116000"/>
              </a:lnSpc>
            </a:pPr>
            <a:r>
              <a:rPr sz="1000" b="0">
                <a:solidFill>
                  <a:srgbClr val="5B6775"/>
                </a:solidFill>
                <a:latin typeface="Calibri"/>
              </a:rPr>
              <a:t>It ran hotter work more slowly (337 ms) than board 2 (240 ms) while staying cooler — 66.2 °C peak against 72.0 °C. Its throttle flag reads 0x50000: under-voltage, not temperature. A better supply, not a heatsink.</a:t>
            </a:r>
          </a:p>
          <a:p>
            <a:pPr algn="l">
              <a:lnSpc>
                <a:spcPct val="116000"/>
              </a:lnSpc>
            </a:pPr>
            <a:r>
              <a:rPr sz="600" b="0">
                <a:solidFill>
                  <a:srgbClr val="5B6775"/>
                </a:solidFill>
                <a:latin typeface="Calibri"/>
              </a:rPr>
              <a:t/>
            </a:r>
          </a:p>
          <a:p>
            <a:pPr algn="l">
              <a:lnSpc>
                <a:spcPct val="116000"/>
              </a:lnSpc>
            </a:pPr>
            <a:r>
              <a:rPr sz="1000" b="1">
                <a:solidFill>
                  <a:srgbClr val="141C26"/>
                </a:solidFill>
                <a:latin typeface="Calibri"/>
              </a:rPr>
              <a:t>Both boards ran at 96 % of their own compute ceiling.</a:t>
            </a:r>
          </a:p>
          <a:p>
            <a:pPr algn="l">
              <a:lnSpc>
                <a:spcPct val="116000"/>
              </a:lnSpc>
            </a:pPr>
            <a:r>
              <a:rPr sz="1000" b="0">
                <a:solidFill>
                  <a:srgbClr val="5B6775"/>
                </a:solidFill>
                <a:latin typeface="Calibri"/>
              </a:rPr>
              <a:t>Delivery was never the constraint: if the link were starving them, the achieved rate would sit well below what inference allows. It does not.</a:t>
            </a:r>
          </a:p>
          <a:p>
            <a:pPr algn="l">
              <a:lnSpc>
                <a:spcPct val="116000"/>
              </a:lnSpc>
            </a:pPr>
            <a:r>
              <a:rPr sz="600" b="0">
                <a:solidFill>
                  <a:srgbClr val="5B6775"/>
                </a:solidFill>
                <a:latin typeface="Calibri"/>
              </a:rPr>
              <a:t/>
            </a:r>
          </a:p>
          <a:p>
            <a:pPr algn="l">
              <a:lnSpc>
                <a:spcPct val="116000"/>
              </a:lnSpc>
            </a:pPr>
            <a:r>
              <a:rPr sz="1000" b="1">
                <a:solidFill>
                  <a:srgbClr val="B0430B"/>
                </a:solidFill>
                <a:latin typeface="Calibri"/>
              </a:rPr>
              <a:t>Board 2 lost 13 % of its detections crossing ns-3.</a:t>
            </a:r>
          </a:p>
          <a:p>
            <a:pPr algn="l">
              <a:lnSpc>
                <a:spcPct val="116000"/>
              </a:lnSpc>
            </a:pPr>
            <a:r>
              <a:rPr sz="1000" b="0">
                <a:solidFill>
                  <a:srgbClr val="5B6775"/>
                </a:solidFill>
                <a:latin typeface="Calibri"/>
              </a:rPr>
              <a:t>455 of 523 arrived, against 97.2 % on board 1 — a real difference between the two radio links, not measurement noise.</a:t>
            </a:r>
          </a:p>
        </p:txBody>
      </p:sp>
      <p:sp>
        <p:nvSpPr>
          <p:cNvPr id="43" name="TextBox 42"/>
          <p:cNvSpPr txBox="1"/>
          <p:nvPr/>
        </p:nvSpPr>
        <p:spPr>
          <a:xfrm>
            <a:off x="6263640" y="4187952"/>
            <a:ext cx="5394960" cy="201168"/>
          </a:xfrm>
          <a:prstGeom prst="rect">
            <a:avLst/>
          </a:prstGeom>
          <a:noFill/>
        </p:spPr>
        <p:txBody>
          <a:bodyPr wrap="square" anchor="t" lIns="0" rIns="0" tIns="0" bIns="0">
            <a:spAutoFit/>
          </a:bodyPr>
          <a:lstStyle/>
          <a:p>
            <a:pPr algn="l">
              <a:lnSpc>
                <a:spcPct val="100000"/>
              </a:lnSpc>
            </a:pPr>
            <a:r>
              <a:rPr sz="900" b="1">
                <a:solidFill>
                  <a:srgbClr val="8A94A1"/>
                </a:solidFill>
                <a:latin typeface="Consolas"/>
              </a:rPr>
              <a:t>STATED LIMITATIONS</a:t>
            </a:r>
          </a:p>
        </p:txBody>
      </p:sp>
      <p:sp>
        <p:nvSpPr>
          <p:cNvPr id="44" name="TextBox 43"/>
          <p:cNvSpPr txBox="1"/>
          <p:nvPr/>
        </p:nvSpPr>
        <p:spPr>
          <a:xfrm>
            <a:off x="6263640" y="4425696"/>
            <a:ext cx="5394960" cy="2011680"/>
          </a:xfrm>
          <a:prstGeom prst="rect">
            <a:avLst/>
          </a:prstGeom>
          <a:noFill/>
        </p:spPr>
        <p:txBody>
          <a:bodyPr wrap="square" anchor="t" lIns="0" rIns="0" tIns="0" bIns="0">
            <a:spAutoFit/>
          </a:bodyPr>
          <a:lstStyle/>
          <a:p>
            <a:pPr algn="l">
              <a:lnSpc>
                <a:spcPct val="116000"/>
              </a:lnSpc>
            </a:pPr>
            <a:r>
              <a:rPr sz="1000" b="1">
                <a:solidFill>
                  <a:srgbClr val="141C26"/>
                </a:solidFill>
                <a:latin typeface="Calibri"/>
              </a:rPr>
              <a:t>INT8 quantisation was evaluated and rejected.</a:t>
            </a:r>
          </a:p>
          <a:p>
            <a:pPr algn="l">
              <a:lnSpc>
                <a:spcPct val="116000"/>
              </a:lnSpc>
            </a:pPr>
            <a:r>
              <a:rPr sz="1000" b="0">
                <a:solidFill>
                  <a:srgbClr val="5B6775"/>
                </a:solidFill>
                <a:latin typeface="Calibri"/>
              </a:rPr>
              <a:t>The quantised model was verified correct on x86, but OpenVINO's ARM CPU plugin could not compile the graph on the Pi 4B. Edge inference runs FP32.</a:t>
            </a:r>
          </a:p>
          <a:p>
            <a:pPr algn="l">
              <a:lnSpc>
                <a:spcPct val="116000"/>
              </a:lnSpc>
            </a:pPr>
            <a:r>
              <a:rPr sz="600" b="0">
                <a:solidFill>
                  <a:srgbClr val="5B6775"/>
                </a:solidFill>
                <a:latin typeface="Calibri"/>
              </a:rPr>
              <a:t/>
            </a:r>
          </a:p>
          <a:p>
            <a:pPr algn="l">
              <a:lnSpc>
                <a:spcPct val="116000"/>
              </a:lnSpc>
            </a:pPr>
            <a:r>
              <a:rPr sz="1000" b="1">
                <a:solidFill>
                  <a:srgbClr val="141C26"/>
                </a:solidFill>
                <a:latin typeface="Calibri"/>
              </a:rPr>
              <a:t>Board power is not instrumented.</a:t>
            </a:r>
          </a:p>
          <a:p>
            <a:pPr algn="l">
              <a:lnSpc>
                <a:spcPct val="116000"/>
              </a:lnSpc>
            </a:pPr>
            <a:r>
              <a:rPr sz="1000" b="0">
                <a:solidFill>
                  <a:srgbClr val="5B6775"/>
                </a:solidFill>
                <a:latin typeface="Calibri"/>
              </a:rPr>
              <a:t>The Pi 4B exposes no power sensor. ARM clock, core voltage and CPU load are logged as on-board proxies; absolute wattage needs an inline meter.</a:t>
            </a:r>
          </a:p>
          <a:p>
            <a:pPr algn="l">
              <a:lnSpc>
                <a:spcPct val="116000"/>
              </a:lnSpc>
            </a:pPr>
            <a:r>
              <a:rPr sz="600" b="0">
                <a:solidFill>
                  <a:srgbClr val="5B6775"/>
                </a:solidFill>
                <a:latin typeface="Calibri"/>
              </a:rPr>
              <a:t/>
            </a:r>
          </a:p>
          <a:p>
            <a:pPr algn="l">
              <a:lnSpc>
                <a:spcPct val="116000"/>
              </a:lnSpc>
            </a:pPr>
            <a:r>
              <a:rPr sz="1000" b="1">
                <a:solidFill>
                  <a:srgbClr val="141C26"/>
                </a:solidFill>
                <a:latin typeface="Calibri"/>
              </a:rPr>
              <a:t>Throttling changes timing, never accuracy.</a:t>
            </a:r>
          </a:p>
          <a:p>
            <a:pPr algn="l">
              <a:lnSpc>
                <a:spcPct val="116000"/>
              </a:lnSpc>
            </a:pPr>
            <a:r>
              <a:rPr sz="1000" b="0">
                <a:solidFill>
                  <a:srgbClr val="5B6775"/>
                </a:solidFill>
                <a:latin typeface="Calibri"/>
              </a:rPr>
              <a:t>A throttled CPU produces bit-identical detections more slowly. It reduces frames analysed per target pass — not precision or recall.</a:t>
            </a:r>
          </a:p>
        </p:txBody>
      </p:sp>
      <p:sp>
        <p:nvSpPr>
          <p:cNvPr id="45" name="TextBox 44"/>
          <p:cNvSpPr txBox="1"/>
          <p:nvPr/>
        </p:nvSpPr>
        <p:spPr>
          <a:xfrm>
            <a:off x="502920" y="6492240"/>
            <a:ext cx="11155680" cy="228600"/>
          </a:xfrm>
          <a:prstGeom prst="rect">
            <a:avLst/>
          </a:prstGeom>
          <a:noFill/>
        </p:spPr>
        <p:txBody>
          <a:bodyPr wrap="square" anchor="t" lIns="0" rIns="0" tIns="0" bIns="0">
            <a:spAutoFit/>
          </a:bodyPr>
          <a:lstStyle/>
          <a:p>
            <a:pPr algn="l">
              <a:lnSpc>
                <a:spcPct val="100000"/>
              </a:lnSpc>
            </a:pPr>
            <a:r>
              <a:rPr sz="850" b="0">
                <a:solidFill>
                  <a:srgbClr val="8A94A1"/>
                </a:solidFill>
                <a:latin typeface="Consolas"/>
              </a:rPr>
              <a:t>Source: results/20260903_163917  ·  357 + 523 frames  ·  125 s and 130 s of flight  ·  FP32 YOLO11n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